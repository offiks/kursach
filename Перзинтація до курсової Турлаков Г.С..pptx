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notesMasterIdLst>
    <p:notesMasterId r:id="rId10"/>
  </p:notesMasterIdLst>
  <p:sldIdLst>
    <p:sldId id="256" r:id="rId2"/>
    <p:sldId id="273" r:id="rId3"/>
    <p:sldId id="262" r:id="rId4"/>
    <p:sldId id="259" r:id="rId5"/>
    <p:sldId id="263" r:id="rId6"/>
    <p:sldId id="261" r:id="rId7"/>
    <p:sldId id="272" r:id="rId8"/>
    <p:sldId id="269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38" autoAdjust="0"/>
    <p:restoredTop sz="90655" autoAdjust="0"/>
  </p:normalViewPr>
  <p:slideViewPr>
    <p:cSldViewPr snapToGrid="0">
      <p:cViewPr varScale="1">
        <p:scale>
          <a:sx n="65" d="100"/>
          <a:sy n="65" d="100"/>
        </p:scale>
        <p:origin x="1242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UA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7C9E11-C2DA-4D5C-8273-B0CD374948D8}" type="datetimeFigureOut">
              <a:rPr lang="ru-UA" smtClean="0"/>
              <a:t>05.06.2026</a:t>
            </a:fld>
            <a:endParaRPr lang="ru-UA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UA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35C64-5D5A-4AAF-B4FF-68D849A561EF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236909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UA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35C64-5D5A-4AAF-B4FF-68D849A561EF}" type="slidenum">
              <a:rPr lang="ru-UA" smtClean="0"/>
              <a:t>6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33351011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UA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35C64-5D5A-4AAF-B4FF-68D849A561EF}" type="slidenum">
              <a:rPr lang="ru-UA" smtClean="0"/>
              <a:t>8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8998320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DA8C6-921F-4562-9643-3E865529C4DC}" type="datetimeFigureOut">
              <a:rPr lang="ru-UA" smtClean="0"/>
              <a:t>05.06.2026</a:t>
            </a:fld>
            <a:endParaRPr lang="ru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226FE-A571-47EC-81DD-EDD9B609FCDF}" type="slidenum">
              <a:rPr lang="ru-UA" smtClean="0"/>
              <a:t>‹#›</a:t>
            </a:fld>
            <a:endParaRPr lang="ru-UA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3160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DA8C6-921F-4562-9643-3E865529C4DC}" type="datetimeFigureOut">
              <a:rPr lang="ru-UA" smtClean="0"/>
              <a:t>05.06.2026</a:t>
            </a:fld>
            <a:endParaRPr lang="ru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226FE-A571-47EC-81DD-EDD9B609FCDF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3181504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DA8C6-921F-4562-9643-3E865529C4DC}" type="datetimeFigureOut">
              <a:rPr lang="ru-UA" smtClean="0"/>
              <a:t>05.06.2026</a:t>
            </a:fld>
            <a:endParaRPr lang="ru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226FE-A571-47EC-81DD-EDD9B609FCDF}" type="slidenum">
              <a:rPr lang="ru-UA" smtClean="0"/>
              <a:t>‹#›</a:t>
            </a:fld>
            <a:endParaRPr lang="ru-UA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104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DA8C6-921F-4562-9643-3E865529C4DC}" type="datetimeFigureOut">
              <a:rPr lang="ru-UA" smtClean="0"/>
              <a:t>05.06.2026</a:t>
            </a:fld>
            <a:endParaRPr lang="ru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226FE-A571-47EC-81DD-EDD9B609FCDF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094263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DA8C6-921F-4562-9643-3E865529C4DC}" type="datetimeFigureOut">
              <a:rPr lang="ru-UA" smtClean="0"/>
              <a:t>05.06.2026</a:t>
            </a:fld>
            <a:endParaRPr lang="ru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226FE-A571-47EC-81DD-EDD9B609FCDF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911088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DA8C6-921F-4562-9643-3E865529C4DC}" type="datetimeFigureOut">
              <a:rPr lang="ru-UA" smtClean="0"/>
              <a:t>05.06.2026</a:t>
            </a:fld>
            <a:endParaRPr lang="ru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226FE-A571-47EC-81DD-EDD9B609FCDF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3312612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DA8C6-921F-4562-9643-3E865529C4DC}" type="datetimeFigureOut">
              <a:rPr lang="ru-UA" smtClean="0"/>
              <a:t>05.06.2026</a:t>
            </a:fld>
            <a:endParaRPr lang="ru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226FE-A571-47EC-81DD-EDD9B609FCDF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89315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F9DA8C6-921F-4562-9643-3E865529C4DC}" type="datetimeFigureOut">
              <a:rPr lang="ru-UA" smtClean="0"/>
              <a:t>05.06.2026</a:t>
            </a:fld>
            <a:endParaRPr lang="ru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5A226FE-A571-47EC-81DD-EDD9B609FCDF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849329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DA8C6-921F-4562-9643-3E865529C4DC}" type="datetimeFigureOut">
              <a:rPr lang="ru-UA" smtClean="0"/>
              <a:t>05.06.2026</a:t>
            </a:fld>
            <a:endParaRPr lang="ru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226FE-A571-47EC-81DD-EDD9B609FCDF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3890249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DA8C6-921F-4562-9643-3E865529C4DC}" type="datetimeFigureOut">
              <a:rPr lang="ru-UA" smtClean="0"/>
              <a:t>05.06.2026</a:t>
            </a:fld>
            <a:endParaRPr lang="ru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226FE-A571-47EC-81DD-EDD9B609FCDF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350410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DA8C6-921F-4562-9643-3E865529C4DC}" type="datetimeFigureOut">
              <a:rPr lang="ru-UA" smtClean="0"/>
              <a:t>05.06.2026</a:t>
            </a:fld>
            <a:endParaRPr lang="ru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226FE-A571-47EC-81DD-EDD9B609FCDF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609839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F9DA8C6-921F-4562-9643-3E865529C4DC}" type="datetimeFigureOut">
              <a:rPr lang="ru-UA" smtClean="0"/>
              <a:t>05.06.2026</a:t>
            </a:fld>
            <a:endParaRPr lang="ru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5A226FE-A571-47EC-81DD-EDD9B609FCDF}" type="slidenum">
              <a:rPr lang="ru-UA" smtClean="0"/>
              <a:t>‹#›</a:t>
            </a:fld>
            <a:endParaRPr lang="ru-UA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2673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E33D3F-054D-181A-0681-F1AE3A5B97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4700" dirty="0" err="1"/>
              <a:t>Курсова</a:t>
            </a:r>
            <a:r>
              <a:rPr lang="ru-RU" sz="4700" dirty="0"/>
              <a:t> робота на тему</a:t>
            </a:r>
            <a:br>
              <a:rPr lang="ru-RU" dirty="0"/>
            </a:br>
            <a:r>
              <a:rPr lang="ru-RU" sz="6900" b="1" dirty="0"/>
              <a:t>СТВОРЕННЯ ІЄРАРХІЇ КЛАСІВ «ГІПЕРМАРКЕТ (б)».</a:t>
            </a:r>
            <a:endParaRPr lang="ru-UA" sz="69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A43945E-8CA3-9144-2A44-2F864A1DAB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ru-RU" dirty="0"/>
              <a:t>Роботу </a:t>
            </a:r>
            <a:r>
              <a:rPr lang="ru-RU" dirty="0" err="1"/>
              <a:t>виконва</a:t>
            </a:r>
            <a:r>
              <a:rPr lang="ru-RU" dirty="0"/>
              <a:t> студент 1 курсу </a:t>
            </a:r>
          </a:p>
          <a:p>
            <a:pPr algn="r"/>
            <a:r>
              <a:rPr lang="ru-RU" dirty="0"/>
              <a:t>Группи КІ, </a:t>
            </a:r>
            <a:r>
              <a:rPr lang="ru-RU" dirty="0" err="1"/>
              <a:t>Турлаков</a:t>
            </a:r>
            <a:r>
              <a:rPr lang="ru-RU" dirty="0"/>
              <a:t> Г.С.</a:t>
            </a:r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3111529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BA6A14-BAE8-7B97-4006-479DE278A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Постановка </a:t>
            </a:r>
            <a:r>
              <a:rPr lang="ru-RU" dirty="0" err="1"/>
              <a:t>задачі</a:t>
            </a:r>
            <a:endParaRPr lang="ru-UA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0FE43D-C7F8-D88D-2206-1A8AFB96A8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Метою </a:t>
            </a:r>
            <a:r>
              <a:rPr lang="ru-RU" dirty="0" err="1"/>
              <a:t>роботи</a:t>
            </a:r>
            <a:r>
              <a:rPr lang="ru-RU" dirty="0"/>
              <a:t> є </a:t>
            </a:r>
            <a:r>
              <a:rPr lang="ru-RU" dirty="0" err="1"/>
              <a:t>проєктування</a:t>
            </a:r>
            <a:r>
              <a:rPr lang="ru-RU" dirty="0"/>
              <a:t> та </a:t>
            </a:r>
            <a:r>
              <a:rPr lang="ru-RU" dirty="0" err="1"/>
              <a:t>розробка</a:t>
            </a:r>
            <a:r>
              <a:rPr lang="ru-RU" dirty="0"/>
              <a:t> </a:t>
            </a:r>
            <a:r>
              <a:rPr lang="ru-RU" dirty="0" err="1"/>
              <a:t>програми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забезпечує</a:t>
            </a:r>
            <a:r>
              <a:rPr lang="ru-RU" dirty="0"/>
              <a:t> </a:t>
            </a:r>
            <a:r>
              <a:rPr lang="ru-RU" dirty="0" err="1"/>
              <a:t>такі</a:t>
            </a:r>
            <a:r>
              <a:rPr lang="ru-RU" dirty="0"/>
              <a:t> </a:t>
            </a:r>
            <a:r>
              <a:rPr lang="ru-RU" dirty="0" err="1"/>
              <a:t>можливості</a:t>
            </a:r>
            <a:r>
              <a:rPr lang="ru-RU" dirty="0"/>
              <a:t>:</a:t>
            </a:r>
          </a:p>
          <a:p>
            <a:pPr>
              <a:buClr>
                <a:schemeClr val="accent3"/>
              </a:buClr>
              <a:buFont typeface="Wingdings" panose="05000000000000000000" pitchFamily="2" charset="2"/>
              <a:buChar char="§"/>
            </a:pPr>
            <a:r>
              <a:rPr lang="ru-RU" dirty="0" err="1"/>
              <a:t>Додавання</a:t>
            </a:r>
            <a:r>
              <a:rPr lang="ru-RU" dirty="0"/>
              <a:t> </a:t>
            </a:r>
            <a:r>
              <a:rPr lang="ru-RU" dirty="0" err="1"/>
              <a:t>товарів</a:t>
            </a:r>
            <a:r>
              <a:rPr lang="ru-RU" dirty="0"/>
              <a:t> </a:t>
            </a:r>
          </a:p>
          <a:p>
            <a:pPr>
              <a:buClr>
                <a:schemeClr val="accent3"/>
              </a:buClr>
              <a:buFont typeface="Wingdings" panose="05000000000000000000" pitchFamily="2" charset="2"/>
              <a:buChar char="§"/>
            </a:pPr>
            <a:r>
              <a:rPr lang="ru-RU" dirty="0" err="1"/>
              <a:t>Керування</a:t>
            </a:r>
            <a:r>
              <a:rPr lang="ru-RU" dirty="0"/>
              <a:t> базою </a:t>
            </a:r>
            <a:r>
              <a:rPr lang="ru-RU" dirty="0" err="1"/>
              <a:t>клієнтів</a:t>
            </a:r>
            <a:r>
              <a:rPr lang="ru-RU" dirty="0"/>
              <a:t> </a:t>
            </a:r>
          </a:p>
          <a:p>
            <a:pPr>
              <a:buClr>
                <a:schemeClr val="accent3"/>
              </a:buClr>
              <a:buFont typeface="Wingdings" panose="05000000000000000000" pitchFamily="2" charset="2"/>
              <a:buChar char="§"/>
            </a:pPr>
            <a:r>
              <a:rPr lang="ru-RU" dirty="0" err="1"/>
              <a:t>Реалізація</a:t>
            </a:r>
            <a:r>
              <a:rPr lang="ru-RU" dirty="0"/>
              <a:t> методу </a:t>
            </a:r>
            <a:r>
              <a:rPr lang="uk-UA" dirty="0"/>
              <a:t>оплати та купівлі товарів</a:t>
            </a:r>
          </a:p>
          <a:p>
            <a:pPr>
              <a:buClr>
                <a:schemeClr val="accent3"/>
              </a:buClr>
              <a:buFont typeface="Wingdings" panose="05000000000000000000" pitchFamily="2" charset="2"/>
              <a:buChar char="§"/>
            </a:pPr>
            <a:r>
              <a:rPr lang="uk-UA" dirty="0"/>
              <a:t>Додавання та видалення товарів </a:t>
            </a:r>
          </a:p>
          <a:p>
            <a:pPr>
              <a:buClr>
                <a:schemeClr val="accent3"/>
              </a:buClr>
              <a:buFont typeface="Wingdings" panose="05000000000000000000" pitchFamily="2" charset="2"/>
              <a:buChar char="§"/>
            </a:pPr>
            <a:r>
              <a:rPr lang="uk-UA" dirty="0"/>
              <a:t>Виведення історії покупок </a:t>
            </a:r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2855896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B1B60-5452-7F14-7EB6-A55DB760D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C2BEEA-E54E-F273-45B1-102AA08B2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Діаграма</a:t>
            </a:r>
            <a:r>
              <a:rPr lang="ru-RU" dirty="0"/>
              <a:t> </a:t>
            </a:r>
            <a:r>
              <a:rPr lang="ru-RU" dirty="0" err="1"/>
              <a:t>класів</a:t>
            </a:r>
            <a:endParaRPr lang="ru-UA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54E95BD9-A7CE-A7F7-6AA5-0E43EF006351}"/>
              </a:ext>
            </a:extLst>
          </p:cNvPr>
          <p:cNvSpPr/>
          <p:nvPr/>
        </p:nvSpPr>
        <p:spPr>
          <a:xfrm>
            <a:off x="2645237" y="2252025"/>
            <a:ext cx="1720240" cy="587503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1"/>
                </a:solidFill>
              </a:rPr>
              <a:t>Goods</a:t>
            </a:r>
            <a:endParaRPr lang="ru-UA" sz="1600" dirty="0">
              <a:solidFill>
                <a:schemeClr val="accent1"/>
              </a:solidFill>
            </a:endParaRP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08106A9B-36A2-390F-15E3-03ECD9851066}"/>
              </a:ext>
            </a:extLst>
          </p:cNvPr>
          <p:cNvSpPr/>
          <p:nvPr/>
        </p:nvSpPr>
        <p:spPr>
          <a:xfrm>
            <a:off x="573647" y="3463497"/>
            <a:ext cx="1720239" cy="49710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HouseholdGoods</a:t>
            </a:r>
            <a:endParaRPr lang="ru-UA" sz="1600" dirty="0">
              <a:solidFill>
                <a:schemeClr val="accent5"/>
              </a:solidFill>
            </a:endParaRP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46AA1981-7DAF-9F60-D720-634982F4DD8B}"/>
              </a:ext>
            </a:extLst>
          </p:cNvPr>
          <p:cNvSpPr/>
          <p:nvPr/>
        </p:nvSpPr>
        <p:spPr>
          <a:xfrm>
            <a:off x="2645239" y="3463496"/>
            <a:ext cx="1720239" cy="4971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5"/>
                </a:solidFill>
              </a:rPr>
              <a:t>Camera</a:t>
            </a:r>
            <a:endParaRPr lang="ru-UA" sz="1600" dirty="0">
              <a:solidFill>
                <a:schemeClr val="accent5"/>
              </a:solidFill>
            </a:endParaRPr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949B1CBE-846C-CCF0-05AD-296E4BF8A9F8}"/>
              </a:ext>
            </a:extLst>
          </p:cNvPr>
          <p:cNvSpPr/>
          <p:nvPr/>
        </p:nvSpPr>
        <p:spPr>
          <a:xfrm>
            <a:off x="4687517" y="3463495"/>
            <a:ext cx="1720239" cy="4971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5"/>
                </a:solidFill>
              </a:rPr>
              <a:t>Computer</a:t>
            </a:r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C20FC87B-9228-A614-3AE4-76CD9A9099B6}"/>
              </a:ext>
            </a:extLst>
          </p:cNvPr>
          <p:cNvSpPr/>
          <p:nvPr/>
        </p:nvSpPr>
        <p:spPr>
          <a:xfrm>
            <a:off x="573647" y="4584570"/>
            <a:ext cx="1720239" cy="4971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6"/>
                </a:solidFill>
              </a:rPr>
              <a:t>Vacuum</a:t>
            </a:r>
            <a:br>
              <a:rPr lang="en-US" sz="1600" dirty="0">
                <a:solidFill>
                  <a:schemeClr val="accent6"/>
                </a:solidFill>
              </a:rPr>
            </a:br>
            <a:r>
              <a:rPr lang="ru-RU" sz="1600" dirty="0">
                <a:solidFill>
                  <a:schemeClr val="accent6"/>
                </a:solidFill>
              </a:rPr>
              <a:t>С</a:t>
            </a:r>
            <a:r>
              <a:rPr lang="en-US" sz="1600" dirty="0">
                <a:solidFill>
                  <a:schemeClr val="accent6"/>
                </a:solidFill>
              </a:rPr>
              <a:t>leaner</a:t>
            </a:r>
            <a:endParaRPr lang="ru-UA" sz="1600" dirty="0">
              <a:solidFill>
                <a:schemeClr val="accent6"/>
              </a:solidFill>
            </a:endParaRP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FBBA314B-2FD5-DAF0-C4C7-0881B0C5D667}"/>
              </a:ext>
            </a:extLst>
          </p:cNvPr>
          <p:cNvSpPr/>
          <p:nvPr/>
        </p:nvSpPr>
        <p:spPr>
          <a:xfrm>
            <a:off x="2645237" y="4584572"/>
            <a:ext cx="1720239" cy="4971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6"/>
                </a:solidFill>
              </a:rPr>
              <a:t>DSLR</a:t>
            </a:r>
            <a:endParaRPr lang="ru-UA" sz="1600" dirty="0">
              <a:solidFill>
                <a:schemeClr val="accent6"/>
              </a:solidFill>
            </a:endParaRP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918829A2-F676-5DF3-2214-B2578BEB1562}"/>
              </a:ext>
            </a:extLst>
          </p:cNvPr>
          <p:cNvSpPr/>
          <p:nvPr/>
        </p:nvSpPr>
        <p:spPr>
          <a:xfrm>
            <a:off x="4687512" y="4584570"/>
            <a:ext cx="1720239" cy="4971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6"/>
                </a:solidFill>
              </a:rPr>
              <a:t>Laptops</a:t>
            </a:r>
            <a:endParaRPr lang="ru-UA" sz="1600" dirty="0">
              <a:solidFill>
                <a:schemeClr val="accent6"/>
              </a:solidFill>
            </a:endParaRPr>
          </a:p>
        </p:txBody>
      </p:sp>
      <p:cxnSp>
        <p:nvCxnSpPr>
          <p:cNvPr id="57" name="Соединитель: уступ 56">
            <a:extLst>
              <a:ext uri="{FF2B5EF4-FFF2-40B4-BE49-F238E27FC236}">
                <a16:creationId xmlns:a16="http://schemas.microsoft.com/office/drawing/2014/main" id="{7654B667-E402-35C6-5768-D7779A6C1D0D}"/>
              </a:ext>
            </a:extLst>
          </p:cNvPr>
          <p:cNvCxnSpPr>
            <a:cxnSpLocks/>
            <a:stCxn id="19" idx="2"/>
            <a:endCxn id="20" idx="0"/>
          </p:cNvCxnSpPr>
          <p:nvPr/>
        </p:nvCxnSpPr>
        <p:spPr>
          <a:xfrm rot="5400000">
            <a:off x="2157578" y="2115717"/>
            <a:ext cx="623969" cy="2071590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Соединитель: уступ 59">
            <a:extLst>
              <a:ext uri="{FF2B5EF4-FFF2-40B4-BE49-F238E27FC236}">
                <a16:creationId xmlns:a16="http://schemas.microsoft.com/office/drawing/2014/main" id="{4A1BE194-19EA-A71E-8737-D847F12A1548}"/>
              </a:ext>
            </a:extLst>
          </p:cNvPr>
          <p:cNvCxnSpPr>
            <a:cxnSpLocks/>
            <a:stCxn id="19" idx="2"/>
            <a:endCxn id="22" idx="0"/>
          </p:cNvCxnSpPr>
          <p:nvPr/>
        </p:nvCxnSpPr>
        <p:spPr>
          <a:xfrm rot="16200000" flipH="1">
            <a:off x="4214514" y="2130371"/>
            <a:ext cx="623967" cy="2042280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Соединитель: уступ 62">
            <a:extLst>
              <a:ext uri="{FF2B5EF4-FFF2-40B4-BE49-F238E27FC236}">
                <a16:creationId xmlns:a16="http://schemas.microsoft.com/office/drawing/2014/main" id="{02DBCE22-A8F7-A8AC-D027-253E2EFBAAC6}"/>
              </a:ext>
            </a:extLst>
          </p:cNvPr>
          <p:cNvCxnSpPr>
            <a:cxnSpLocks/>
            <a:stCxn id="19" idx="2"/>
            <a:endCxn id="21" idx="0"/>
          </p:cNvCxnSpPr>
          <p:nvPr/>
        </p:nvCxnSpPr>
        <p:spPr>
          <a:xfrm rot="16200000" flipH="1">
            <a:off x="3193374" y="3151511"/>
            <a:ext cx="623968" cy="2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Прямая со стрелкой 66">
            <a:extLst>
              <a:ext uri="{FF2B5EF4-FFF2-40B4-BE49-F238E27FC236}">
                <a16:creationId xmlns:a16="http://schemas.microsoft.com/office/drawing/2014/main" id="{7C0243ED-96D3-1275-EEC1-55F87921DDED}"/>
              </a:ext>
            </a:extLst>
          </p:cNvPr>
          <p:cNvCxnSpPr>
            <a:cxnSpLocks/>
            <a:stCxn id="20" idx="2"/>
            <a:endCxn id="23" idx="0"/>
          </p:cNvCxnSpPr>
          <p:nvPr/>
        </p:nvCxnSpPr>
        <p:spPr>
          <a:xfrm>
            <a:off x="1433767" y="3960605"/>
            <a:ext cx="0" cy="623965"/>
          </a:xfrm>
          <a:prstGeom prst="straightConnector1">
            <a:avLst/>
          </a:prstGeom>
          <a:ln w="2857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Прямая со стрелкой 70">
            <a:extLst>
              <a:ext uri="{FF2B5EF4-FFF2-40B4-BE49-F238E27FC236}">
                <a16:creationId xmlns:a16="http://schemas.microsoft.com/office/drawing/2014/main" id="{2FE237D7-8AEC-F963-8220-BB21A821BF4C}"/>
              </a:ext>
            </a:extLst>
          </p:cNvPr>
          <p:cNvCxnSpPr>
            <a:cxnSpLocks/>
            <a:stCxn id="21" idx="2"/>
            <a:endCxn id="24" idx="0"/>
          </p:cNvCxnSpPr>
          <p:nvPr/>
        </p:nvCxnSpPr>
        <p:spPr>
          <a:xfrm flipH="1">
            <a:off x="3505357" y="3960604"/>
            <a:ext cx="2" cy="623968"/>
          </a:xfrm>
          <a:prstGeom prst="straightConnector1">
            <a:avLst/>
          </a:prstGeom>
          <a:ln w="2857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Прямая со стрелкой 75">
            <a:extLst>
              <a:ext uri="{FF2B5EF4-FFF2-40B4-BE49-F238E27FC236}">
                <a16:creationId xmlns:a16="http://schemas.microsoft.com/office/drawing/2014/main" id="{D64BCDC8-5EB1-6144-7110-AC3C9EAAACA6}"/>
              </a:ext>
            </a:extLst>
          </p:cNvPr>
          <p:cNvCxnSpPr>
            <a:cxnSpLocks/>
            <a:stCxn id="22" idx="2"/>
            <a:endCxn id="25" idx="0"/>
          </p:cNvCxnSpPr>
          <p:nvPr/>
        </p:nvCxnSpPr>
        <p:spPr>
          <a:xfrm flipH="1">
            <a:off x="5547632" y="3960603"/>
            <a:ext cx="5" cy="623967"/>
          </a:xfrm>
          <a:prstGeom prst="straightConnector1">
            <a:avLst/>
          </a:prstGeom>
          <a:ln w="2857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Прямоугольник: скругленные углы 88">
            <a:extLst>
              <a:ext uri="{FF2B5EF4-FFF2-40B4-BE49-F238E27FC236}">
                <a16:creationId xmlns:a16="http://schemas.microsoft.com/office/drawing/2014/main" id="{F8346EC8-7653-5957-49FD-21042792FB39}"/>
              </a:ext>
            </a:extLst>
          </p:cNvPr>
          <p:cNvSpPr/>
          <p:nvPr/>
        </p:nvSpPr>
        <p:spPr>
          <a:xfrm>
            <a:off x="6805977" y="2252023"/>
            <a:ext cx="1720240" cy="587503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1"/>
                </a:solidFill>
              </a:rPr>
              <a:t>Customer</a:t>
            </a:r>
            <a:endParaRPr lang="ru-UA" sz="1600" dirty="0">
              <a:solidFill>
                <a:schemeClr val="accent1"/>
              </a:solidFill>
            </a:endParaRPr>
          </a:p>
        </p:txBody>
      </p:sp>
      <p:sp>
        <p:nvSpPr>
          <p:cNvPr id="90" name="Прямоугольник: скругленные углы 89">
            <a:extLst>
              <a:ext uri="{FF2B5EF4-FFF2-40B4-BE49-F238E27FC236}">
                <a16:creationId xmlns:a16="http://schemas.microsoft.com/office/drawing/2014/main" id="{2FD432DC-121D-BD0F-CFD0-7D74CB4FCA7D}"/>
              </a:ext>
            </a:extLst>
          </p:cNvPr>
          <p:cNvSpPr/>
          <p:nvPr/>
        </p:nvSpPr>
        <p:spPr>
          <a:xfrm>
            <a:off x="6805978" y="3463495"/>
            <a:ext cx="1720239" cy="49710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accent5"/>
                </a:solidFill>
              </a:rPr>
              <a:t>RegularCustomer</a:t>
            </a:r>
            <a:endParaRPr lang="ru-UA" sz="1600" dirty="0">
              <a:solidFill>
                <a:schemeClr val="accent5"/>
              </a:solidFill>
            </a:endParaRPr>
          </a:p>
        </p:txBody>
      </p:sp>
      <p:cxnSp>
        <p:nvCxnSpPr>
          <p:cNvPr id="91" name="Соединитель: уступ 90">
            <a:extLst>
              <a:ext uri="{FF2B5EF4-FFF2-40B4-BE49-F238E27FC236}">
                <a16:creationId xmlns:a16="http://schemas.microsoft.com/office/drawing/2014/main" id="{326E4B8C-DA08-3F93-0BD3-76524784BE51}"/>
              </a:ext>
            </a:extLst>
          </p:cNvPr>
          <p:cNvCxnSpPr>
            <a:cxnSpLocks/>
            <a:stCxn id="89" idx="2"/>
            <a:endCxn id="90" idx="0"/>
          </p:cNvCxnSpPr>
          <p:nvPr/>
        </p:nvCxnSpPr>
        <p:spPr>
          <a:xfrm rot="16200000" flipH="1">
            <a:off x="7354113" y="3151509"/>
            <a:ext cx="623969" cy="1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Прямоугольник: скругленные углы 95">
            <a:extLst>
              <a:ext uri="{FF2B5EF4-FFF2-40B4-BE49-F238E27FC236}">
                <a16:creationId xmlns:a16="http://schemas.microsoft.com/office/drawing/2014/main" id="{D86611B0-FA89-FD51-9BE2-5DBE8C269E07}"/>
              </a:ext>
            </a:extLst>
          </p:cNvPr>
          <p:cNvSpPr/>
          <p:nvPr/>
        </p:nvSpPr>
        <p:spPr>
          <a:xfrm>
            <a:off x="9546761" y="2252023"/>
            <a:ext cx="1720240" cy="587503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1"/>
                </a:solidFill>
              </a:rPr>
              <a:t>Shop</a:t>
            </a:r>
          </a:p>
        </p:txBody>
      </p:sp>
      <p:sp>
        <p:nvSpPr>
          <p:cNvPr id="97" name="Прямоугольник: скругленные углы 96">
            <a:extLst>
              <a:ext uri="{FF2B5EF4-FFF2-40B4-BE49-F238E27FC236}">
                <a16:creationId xmlns:a16="http://schemas.microsoft.com/office/drawing/2014/main" id="{6A3E829D-BD3D-794D-5C87-94DAA3DC45F3}"/>
              </a:ext>
            </a:extLst>
          </p:cNvPr>
          <p:cNvSpPr/>
          <p:nvPr/>
        </p:nvSpPr>
        <p:spPr>
          <a:xfrm>
            <a:off x="9546761" y="3200582"/>
            <a:ext cx="1720240" cy="587503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1"/>
                </a:solidFill>
              </a:rPr>
              <a:t>Menu</a:t>
            </a:r>
          </a:p>
        </p:txBody>
      </p:sp>
      <p:sp>
        <p:nvSpPr>
          <p:cNvPr id="98" name="Прямоугольник: скругленные углы 97">
            <a:extLst>
              <a:ext uri="{FF2B5EF4-FFF2-40B4-BE49-F238E27FC236}">
                <a16:creationId xmlns:a16="http://schemas.microsoft.com/office/drawing/2014/main" id="{5CAF48B9-5690-283C-AA1F-357B74E113CD}"/>
              </a:ext>
            </a:extLst>
          </p:cNvPr>
          <p:cNvSpPr/>
          <p:nvPr/>
        </p:nvSpPr>
        <p:spPr>
          <a:xfrm>
            <a:off x="9546761" y="4149141"/>
            <a:ext cx="1720240" cy="587503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1"/>
                </a:solidFill>
              </a:rPr>
              <a:t>Session</a:t>
            </a:r>
          </a:p>
        </p:txBody>
      </p:sp>
      <p:sp>
        <p:nvSpPr>
          <p:cNvPr id="99" name="Прямоугольник: скругленные углы 98">
            <a:extLst>
              <a:ext uri="{FF2B5EF4-FFF2-40B4-BE49-F238E27FC236}">
                <a16:creationId xmlns:a16="http://schemas.microsoft.com/office/drawing/2014/main" id="{66602B56-C314-C5FF-ED48-22587A6E3246}"/>
              </a:ext>
            </a:extLst>
          </p:cNvPr>
          <p:cNvSpPr/>
          <p:nvPr/>
        </p:nvSpPr>
        <p:spPr>
          <a:xfrm>
            <a:off x="9546761" y="5097700"/>
            <a:ext cx="1720240" cy="587503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1"/>
                </a:solidFill>
              </a:rPr>
              <a:t>Purchase</a:t>
            </a:r>
          </a:p>
        </p:txBody>
      </p:sp>
    </p:spTree>
    <p:extLst>
      <p:ext uri="{BB962C8B-B14F-4D97-AF65-F5344CB8AC3E}">
        <p14:creationId xmlns:p14="http://schemas.microsoft.com/office/powerpoint/2010/main" val="332345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43F325-9FD0-047F-31D0-B32F97378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Категорії</a:t>
            </a:r>
            <a:r>
              <a:rPr lang="ru-RU" dirty="0"/>
              <a:t> </a:t>
            </a:r>
            <a:r>
              <a:rPr lang="ru-RU" dirty="0" err="1"/>
              <a:t>користувачів</a:t>
            </a:r>
            <a:r>
              <a:rPr lang="ru-RU" dirty="0"/>
              <a:t> </a:t>
            </a:r>
            <a:endParaRPr lang="ru-UA" dirty="0"/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098486C6-E95A-2ACF-21D1-F1BF79082B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0065791"/>
              </p:ext>
            </p:extLst>
          </p:nvPr>
        </p:nvGraphicFramePr>
        <p:xfrm>
          <a:off x="1096961" y="1846263"/>
          <a:ext cx="10058400" cy="275431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3009756392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3813221296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3647017841"/>
                    </a:ext>
                  </a:extLst>
                </a:gridCol>
              </a:tblGrid>
              <a:tr h="468312">
                <a:tc>
                  <a:txBody>
                    <a:bodyPr/>
                    <a:lstStyle/>
                    <a:p>
                      <a:r>
                        <a:rPr lang="ru-RU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Звичайний</a:t>
                      </a:r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кл</a:t>
                      </a:r>
                      <a:r>
                        <a:rPr lang="uk-UA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ієнт</a:t>
                      </a:r>
                      <a:r>
                        <a:rPr lang="uk-UA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(Гість)</a:t>
                      </a:r>
                      <a:endParaRPr lang="ru-UA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Постійний клієнт</a:t>
                      </a:r>
                      <a:endParaRPr lang="ru-UA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Менеджер </a:t>
                      </a:r>
                      <a:endParaRPr lang="ru-UA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5073148"/>
                  </a:ext>
                </a:extLst>
              </a:tr>
              <a:tr h="1710531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uk-UA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Потребує тільки значення </a:t>
                      </a:r>
                      <a:r>
                        <a:rPr lang="uk-UA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баланса</a:t>
                      </a:r>
                      <a:r>
                        <a:rPr lang="uk-UA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користувача.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uk-UA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Зберігається у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CustomerList</a:t>
                      </a:r>
                      <a:r>
                        <a:rPr lang="uk-UA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за індексом нуль.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uk-UA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 накопичує знижку.</a:t>
                      </a:r>
                      <a:endParaRPr lang="ru-UA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Потребує</a:t>
                      </a:r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ім’я</a:t>
                      </a:r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та баланс </a:t>
                      </a:r>
                      <a:r>
                        <a:rPr lang="ru-RU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користувача</a:t>
                      </a:r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uk-UA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Інформація про клієнта зберігається у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CustomerList</a:t>
                      </a:r>
                      <a:r>
                        <a:rPr lang="uk-UA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за власним індексом.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uk-UA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Накопичує знижку в залежності від загальних витрат.</a:t>
                      </a:r>
                      <a:endParaRPr lang="en-US" sz="18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uk-UA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Потребує ім’я користувача для авторизації.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uk-UA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Інформація користувача зберігається як окремий об’єкт.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uk-UA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Має доступ до додаткових функціоналу програми.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74246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7296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CA1AE-79D7-8AA9-209C-3080133D3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C1B5F3-B44C-C2E4-6DF4-62BF799B0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Категор</a:t>
            </a:r>
            <a:r>
              <a:rPr lang="uk-UA" dirty="0" err="1"/>
              <a:t>ії</a:t>
            </a:r>
            <a:r>
              <a:rPr lang="uk-UA" dirty="0"/>
              <a:t> товарів</a:t>
            </a:r>
            <a:endParaRPr lang="ru-UA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698B40A-1DC2-11F8-B605-7FBE592A0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/>
              <a:t>Усі товари є нащадком класу </a:t>
            </a:r>
            <a:r>
              <a:rPr lang="en-US" dirty="0"/>
              <a:t>Goods.</a:t>
            </a:r>
            <a:endParaRPr lang="uk-UA" dirty="0"/>
          </a:p>
          <a:p>
            <a:r>
              <a:rPr lang="uk-UA" dirty="0"/>
              <a:t>Поля</a:t>
            </a:r>
            <a:r>
              <a:rPr lang="en-US" dirty="0"/>
              <a:t> Goods:</a:t>
            </a:r>
          </a:p>
          <a:p>
            <a:pPr lvl="1"/>
            <a:r>
              <a:rPr lang="en-US" dirty="0"/>
              <a:t>private string company;</a:t>
            </a:r>
          </a:p>
          <a:p>
            <a:pPr lvl="1"/>
            <a:r>
              <a:rPr lang="en-US" dirty="0"/>
              <a:t>private string name;</a:t>
            </a:r>
          </a:p>
          <a:p>
            <a:pPr lvl="1"/>
            <a:r>
              <a:rPr lang="en-US" dirty="0"/>
              <a:t>private int price;</a:t>
            </a:r>
          </a:p>
          <a:p>
            <a:pPr lvl="1"/>
            <a:r>
              <a:rPr lang="en-US" dirty="0"/>
              <a:t>private int </a:t>
            </a:r>
            <a:r>
              <a:rPr lang="en-US" dirty="0" err="1"/>
              <a:t>maxDiscount</a:t>
            </a:r>
            <a:r>
              <a:rPr lang="en-US" dirty="0"/>
              <a:t>;</a:t>
            </a:r>
            <a:endParaRPr lang="uk-UA" dirty="0"/>
          </a:p>
          <a:p>
            <a:endParaRPr lang="en-US" dirty="0"/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85F0D9D3-EF2B-08E6-021E-831AE8870F09}"/>
              </a:ext>
            </a:extLst>
          </p:cNvPr>
          <p:cNvSpPr/>
          <p:nvPr/>
        </p:nvSpPr>
        <p:spPr>
          <a:xfrm>
            <a:off x="7339011" y="2386010"/>
            <a:ext cx="1847852" cy="371482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/>
              <a:t>Goods</a:t>
            </a:r>
            <a:endParaRPr lang="ru-UA" sz="2200" dirty="0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FC1C3FFB-0B6F-943C-17D7-DBE1178CA532}"/>
              </a:ext>
            </a:extLst>
          </p:cNvPr>
          <p:cNvSpPr/>
          <p:nvPr/>
        </p:nvSpPr>
        <p:spPr>
          <a:xfrm>
            <a:off x="4743448" y="3086100"/>
            <a:ext cx="1847851" cy="31432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HouseholdGoods</a:t>
            </a:r>
            <a:endParaRPr lang="ru-UA" dirty="0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3729C645-BA8A-CF1A-4B7F-307C4F09F794}"/>
              </a:ext>
            </a:extLst>
          </p:cNvPr>
          <p:cNvSpPr/>
          <p:nvPr/>
        </p:nvSpPr>
        <p:spPr>
          <a:xfrm>
            <a:off x="7339010" y="3086098"/>
            <a:ext cx="1847851" cy="314325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Camera</a:t>
            </a:r>
            <a:endParaRPr lang="ru-UA" dirty="0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21F56B7E-7F46-22D5-5372-1DB4518ECEEE}"/>
              </a:ext>
            </a:extLst>
          </p:cNvPr>
          <p:cNvSpPr/>
          <p:nvPr/>
        </p:nvSpPr>
        <p:spPr>
          <a:xfrm>
            <a:off x="9934572" y="3086098"/>
            <a:ext cx="1847851" cy="314325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Computer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DC21E0A6-58B5-C958-EC65-F1A0C79B6AB8}"/>
              </a:ext>
            </a:extLst>
          </p:cNvPr>
          <p:cNvSpPr/>
          <p:nvPr/>
        </p:nvSpPr>
        <p:spPr>
          <a:xfrm>
            <a:off x="4743448" y="3786187"/>
            <a:ext cx="1847851" cy="3143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Vacuum</a:t>
            </a:r>
            <a:r>
              <a:rPr lang="ru-RU" dirty="0"/>
              <a:t>С</a:t>
            </a:r>
            <a:r>
              <a:rPr lang="en-US" dirty="0"/>
              <a:t>leaner</a:t>
            </a:r>
            <a:endParaRPr lang="ru-UA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8E53D547-7AFB-4040-2760-1063B0B47B7B}"/>
              </a:ext>
            </a:extLst>
          </p:cNvPr>
          <p:cNvSpPr/>
          <p:nvPr/>
        </p:nvSpPr>
        <p:spPr>
          <a:xfrm>
            <a:off x="7339011" y="3786186"/>
            <a:ext cx="1847851" cy="3143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DSLR</a:t>
            </a:r>
            <a:endParaRPr lang="ru-UA" dirty="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C2722EEE-997C-4D8A-BDAE-858263C4F38E}"/>
              </a:ext>
            </a:extLst>
          </p:cNvPr>
          <p:cNvSpPr/>
          <p:nvPr/>
        </p:nvSpPr>
        <p:spPr>
          <a:xfrm>
            <a:off x="9934572" y="3771895"/>
            <a:ext cx="1847851" cy="3143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Laptops</a:t>
            </a:r>
            <a:endParaRPr lang="ru-UA" dirty="0"/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98BC9EA2-D9E9-66E5-F928-0AAD6A091C43}"/>
              </a:ext>
            </a:extLst>
          </p:cNvPr>
          <p:cNvCxnSpPr>
            <a:stCxn id="4" idx="1"/>
            <a:endCxn id="6" idx="0"/>
          </p:cNvCxnSpPr>
          <p:nvPr/>
        </p:nvCxnSpPr>
        <p:spPr>
          <a:xfrm flipH="1">
            <a:off x="5667374" y="2571751"/>
            <a:ext cx="1671637" cy="51434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FE76A8F7-EA61-9257-E060-9EDDCF208E80}"/>
              </a:ext>
            </a:extLst>
          </p:cNvPr>
          <p:cNvCxnSpPr>
            <a:stCxn id="6" idx="2"/>
            <a:endCxn id="9" idx="0"/>
          </p:cNvCxnSpPr>
          <p:nvPr/>
        </p:nvCxnSpPr>
        <p:spPr>
          <a:xfrm>
            <a:off x="5667374" y="3400425"/>
            <a:ext cx="0" cy="385762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40152489-159A-BA64-E608-8584F0271A59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>
            <a:off x="8262936" y="3400423"/>
            <a:ext cx="1" cy="385763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6A98E1CE-5964-F87E-36B5-EE0ED51F684F}"/>
              </a:ext>
            </a:extLst>
          </p:cNvPr>
          <p:cNvCxnSpPr>
            <a:cxnSpLocks/>
            <a:stCxn id="8" idx="2"/>
            <a:endCxn id="12" idx="0"/>
          </p:cNvCxnSpPr>
          <p:nvPr/>
        </p:nvCxnSpPr>
        <p:spPr>
          <a:xfrm>
            <a:off x="10858498" y="3400423"/>
            <a:ext cx="0" cy="371472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517BD693-AEE4-097D-EDC9-00EF35C2C1B0}"/>
              </a:ext>
            </a:extLst>
          </p:cNvPr>
          <p:cNvCxnSpPr>
            <a:cxnSpLocks/>
            <a:stCxn id="4" idx="3"/>
            <a:endCxn id="8" idx="0"/>
          </p:cNvCxnSpPr>
          <p:nvPr/>
        </p:nvCxnSpPr>
        <p:spPr>
          <a:xfrm>
            <a:off x="9186863" y="2571751"/>
            <a:ext cx="1671635" cy="51434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Прямая со стрелкой 29">
            <a:extLst>
              <a:ext uri="{FF2B5EF4-FFF2-40B4-BE49-F238E27FC236}">
                <a16:creationId xmlns:a16="http://schemas.microsoft.com/office/drawing/2014/main" id="{57CF27C9-DA2C-6E49-D304-79F836326DAE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flipH="1">
            <a:off x="8262936" y="2757492"/>
            <a:ext cx="1" cy="32860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6423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0B1E5-86A3-D600-E976-0B803CBF7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D83A1D-65EA-7D18-8761-24440FA00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Файл </a:t>
            </a:r>
            <a:r>
              <a:rPr lang="en-US" dirty="0" err="1"/>
              <a:t>Program.cs</a:t>
            </a:r>
            <a:endParaRPr lang="ru-UA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82EEECD-7D4D-0D46-174C-C30A466976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37360"/>
            <a:ext cx="10058400" cy="402336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000" kern="0" dirty="0">
                <a:solidFill>
                  <a:srgbClr val="8F08C4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 </a:t>
            </a:r>
            <a:r>
              <a:rPr lang="ru-UA" sz="1000" kern="0" dirty="0" err="1">
                <a:solidFill>
                  <a:srgbClr val="2B91AF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Session</a:t>
            </a: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ru-UA" sz="1000" kern="0" dirty="0" err="1">
                <a:solidFill>
                  <a:srgbClr val="1F377F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session</a:t>
            </a: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= </a:t>
            </a:r>
            <a:r>
              <a:rPr lang="ru-UA" sz="1000" kern="0" dirty="0" err="1">
                <a:solidFill>
                  <a:srgbClr val="0000FF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new</a:t>
            </a: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ru-UA" sz="1000" kern="0" dirty="0" err="1">
                <a:solidFill>
                  <a:srgbClr val="2B91AF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Session</a:t>
            </a: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();</a:t>
            </a:r>
            <a:endParaRPr lang="uk-UA" sz="1000" kern="0" dirty="0">
              <a:solidFill>
                <a:srgbClr val="8F08C4"/>
              </a:solidFill>
              <a:effectLst/>
              <a:latin typeface="Cascadia Mono" panose="020B0609020000020004" pitchFamily="49" charset="0"/>
              <a:ea typeface="Times New Roman" panose="02020603050405020304" pitchFamily="18" charset="0"/>
              <a:cs typeface="Cascadia Mono" panose="020B06090200000200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000" kern="0" dirty="0">
                <a:solidFill>
                  <a:srgbClr val="8F08C4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 </a:t>
            </a:r>
            <a:r>
              <a:rPr lang="ru-UA" sz="1000" kern="0" dirty="0" err="1">
                <a:solidFill>
                  <a:srgbClr val="8F08C4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while</a:t>
            </a: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 (</a:t>
            </a:r>
            <a:r>
              <a:rPr lang="ru-UA" sz="1000" kern="0" dirty="0" err="1">
                <a:solidFill>
                  <a:srgbClr val="0000FF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true</a:t>
            </a: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)</a:t>
            </a:r>
            <a:endParaRPr lang="ru-UA" sz="1000" kern="100" dirty="0">
              <a:effectLst/>
              <a:latin typeface="Cascadia Mono" panose="020B0609020000020004" pitchFamily="49" charset="0"/>
              <a:ea typeface="Aptos" panose="020B0004020202020204" pitchFamily="34" charset="0"/>
              <a:cs typeface="Cascadia Mono" panose="020B06090200000200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{</a:t>
            </a:r>
            <a:endParaRPr lang="ru-UA" sz="1000" kern="100" dirty="0">
              <a:effectLst/>
              <a:latin typeface="Cascadia Mono" panose="020B0609020000020004" pitchFamily="49" charset="0"/>
              <a:ea typeface="Aptos" panose="020B0004020202020204" pitchFamily="34" charset="0"/>
              <a:cs typeface="Cascadia Mono" panose="020B06090200000200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    </a:t>
            </a:r>
            <a:r>
              <a:rPr lang="ru-UA" sz="1000" kern="0" dirty="0" err="1">
                <a:solidFill>
                  <a:srgbClr val="8F08C4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if</a:t>
            </a: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 (</a:t>
            </a:r>
            <a:r>
              <a:rPr lang="ru-UA" sz="1000" kern="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session.CurrentShop</a:t>
            </a: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 == </a:t>
            </a:r>
            <a:r>
              <a:rPr lang="ru-UA" sz="1000" kern="0" dirty="0" err="1">
                <a:solidFill>
                  <a:srgbClr val="0000FF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null</a:t>
            </a: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)</a:t>
            </a:r>
            <a:endParaRPr lang="ru-UA" sz="1000" kern="100" dirty="0">
              <a:effectLst/>
              <a:latin typeface="Cascadia Mono" panose="020B0609020000020004" pitchFamily="49" charset="0"/>
              <a:ea typeface="Aptos" panose="020B0004020202020204" pitchFamily="34" charset="0"/>
              <a:cs typeface="Cascadia Mono" panose="020B06090200000200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        </a:t>
            </a:r>
            <a:r>
              <a:rPr lang="ru-UA" sz="1000" kern="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session.CurrentShop</a:t>
            </a: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 = </a:t>
            </a:r>
            <a:r>
              <a:rPr lang="ru-UA" sz="1000" kern="0" dirty="0" err="1">
                <a:solidFill>
                  <a:srgbClr val="2B91AF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Menu</a:t>
            </a:r>
            <a:r>
              <a:rPr lang="ru-UA" sz="1000" kern="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.</a:t>
            </a:r>
            <a:r>
              <a:rPr lang="ru-UA" sz="1000" kern="0" dirty="0" err="1">
                <a:solidFill>
                  <a:srgbClr val="74531F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ShowShopSelectMenu</a:t>
            </a: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(</a:t>
            </a:r>
            <a:r>
              <a:rPr lang="ru-UA" sz="1000" kern="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ShopList</a:t>
            </a: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);</a:t>
            </a:r>
            <a:endParaRPr lang="ru-UA" sz="1000" kern="100" dirty="0">
              <a:effectLst/>
              <a:latin typeface="Cascadia Mono" panose="020B0609020000020004" pitchFamily="49" charset="0"/>
              <a:ea typeface="Aptos" panose="020B0004020202020204" pitchFamily="34" charset="0"/>
              <a:cs typeface="Cascadia Mono" panose="020B06090200000200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 </a:t>
            </a:r>
            <a:endParaRPr lang="ru-UA" sz="1000" kern="100" dirty="0">
              <a:effectLst/>
              <a:latin typeface="Cascadia Mono" panose="020B0609020000020004" pitchFamily="49" charset="0"/>
              <a:ea typeface="Aptos" panose="020B0004020202020204" pitchFamily="34" charset="0"/>
              <a:cs typeface="Cascadia Mono" panose="020B06090200000200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    </a:t>
            </a:r>
            <a:r>
              <a:rPr lang="ru-UA" sz="1000" kern="0" dirty="0" err="1">
                <a:solidFill>
                  <a:srgbClr val="8F08C4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if</a:t>
            </a: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 (</a:t>
            </a:r>
            <a:r>
              <a:rPr lang="ru-UA" sz="1000" kern="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session.CurrentCustomer</a:t>
            </a: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 == </a:t>
            </a:r>
            <a:r>
              <a:rPr lang="ru-UA" sz="1000" kern="0" dirty="0" err="1">
                <a:solidFill>
                  <a:srgbClr val="0000FF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null</a:t>
            </a: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)</a:t>
            </a:r>
            <a:endParaRPr lang="ru-UA" sz="1000" kern="100" dirty="0">
              <a:effectLst/>
              <a:latin typeface="Cascadia Mono" panose="020B0609020000020004" pitchFamily="49" charset="0"/>
              <a:ea typeface="Aptos" panose="020B0004020202020204" pitchFamily="34" charset="0"/>
              <a:cs typeface="Cascadia Mono" panose="020B06090200000200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        </a:t>
            </a:r>
            <a:r>
              <a:rPr lang="ru-UA" sz="1000" kern="0" dirty="0" err="1">
                <a:solidFill>
                  <a:srgbClr val="2B91AF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Menu</a:t>
            </a:r>
            <a:r>
              <a:rPr lang="ru-UA" sz="1000" kern="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.</a:t>
            </a:r>
            <a:r>
              <a:rPr lang="ru-UA" sz="1000" kern="0" dirty="0" err="1">
                <a:solidFill>
                  <a:srgbClr val="74531F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ShowCustomerSelectMenu</a:t>
            </a: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(</a:t>
            </a:r>
            <a:r>
              <a:rPr lang="ru-UA" sz="1000" kern="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CustomerList</a:t>
            </a: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, </a:t>
            </a:r>
            <a:r>
              <a:rPr lang="ru-UA" sz="1000" kern="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session.CurrentShop</a:t>
            </a: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);</a:t>
            </a:r>
            <a:endParaRPr lang="ru-UA" sz="1000" kern="100" dirty="0">
              <a:effectLst/>
              <a:latin typeface="Cascadia Mono" panose="020B0609020000020004" pitchFamily="49" charset="0"/>
              <a:ea typeface="Aptos" panose="020B0004020202020204" pitchFamily="34" charset="0"/>
              <a:cs typeface="Cascadia Mono" panose="020B06090200000200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 </a:t>
            </a:r>
            <a:endParaRPr lang="ru-UA" sz="1000" kern="100" dirty="0">
              <a:effectLst/>
              <a:latin typeface="Cascadia Mono" panose="020B0609020000020004" pitchFamily="49" charset="0"/>
              <a:ea typeface="Aptos" panose="020B0004020202020204" pitchFamily="34" charset="0"/>
              <a:cs typeface="Cascadia Mono" panose="020B06090200000200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    </a:t>
            </a:r>
            <a:r>
              <a:rPr lang="ru-UA" sz="1000" kern="0" dirty="0" err="1">
                <a:solidFill>
                  <a:srgbClr val="0000FF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int</a:t>
            </a: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 </a:t>
            </a:r>
            <a:r>
              <a:rPr lang="ru-UA" sz="1000" kern="0" dirty="0" err="1">
                <a:solidFill>
                  <a:srgbClr val="1F377F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choice</a:t>
            </a: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 = </a:t>
            </a:r>
            <a:r>
              <a:rPr lang="ru-UA" sz="1000" kern="0" dirty="0" err="1">
                <a:solidFill>
                  <a:srgbClr val="2B91AF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Menu</a:t>
            </a:r>
            <a:r>
              <a:rPr lang="ru-UA" sz="1000" kern="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.</a:t>
            </a:r>
            <a:r>
              <a:rPr lang="ru-UA" sz="1000" kern="0" dirty="0" err="1">
                <a:solidFill>
                  <a:srgbClr val="74531F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ShowMainMenu</a:t>
            </a: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(</a:t>
            </a:r>
            <a:r>
              <a:rPr lang="en-US" sz="1000" kern="100" dirty="0"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 </a:t>
            </a:r>
            <a:r>
              <a:rPr lang="ru-UA" sz="1000" kern="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session.CurrentShop</a:t>
            </a: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,</a:t>
            </a:r>
            <a:r>
              <a:rPr lang="en-US" sz="1000" kern="100" dirty="0"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 </a:t>
            </a:r>
            <a:r>
              <a:rPr lang="ru-UA" sz="1000" kern="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session.SecurityLevel</a:t>
            </a: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,</a:t>
            </a:r>
            <a:r>
              <a:rPr lang="en-US" sz="1000" kern="100" dirty="0"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 </a:t>
            </a:r>
            <a:r>
              <a:rPr lang="ru-UA" sz="1000" kern="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session.CurrentCustomer</a:t>
            </a: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);</a:t>
            </a:r>
            <a:endParaRPr lang="ru-UA" sz="1000" kern="100" dirty="0">
              <a:effectLst/>
              <a:latin typeface="Cascadia Mono" panose="020B0609020000020004" pitchFamily="49" charset="0"/>
              <a:ea typeface="Aptos" panose="020B0004020202020204" pitchFamily="34" charset="0"/>
              <a:cs typeface="Cascadia Mono" panose="020B06090200000200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 </a:t>
            </a:r>
            <a:endParaRPr lang="ru-UA" sz="1000" kern="100" dirty="0">
              <a:effectLst/>
              <a:latin typeface="Cascadia Mono" panose="020B0609020000020004" pitchFamily="49" charset="0"/>
              <a:ea typeface="Aptos" panose="020B0004020202020204" pitchFamily="34" charset="0"/>
              <a:cs typeface="Cascadia Mono" panose="020B06090200000200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    </a:t>
            </a:r>
            <a:r>
              <a:rPr lang="ru-UA" sz="1000" kern="0" dirty="0" err="1">
                <a:solidFill>
                  <a:srgbClr val="8F08C4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switch</a:t>
            </a: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 (</a:t>
            </a:r>
            <a:r>
              <a:rPr lang="ru-UA" sz="1000" kern="0" dirty="0" err="1">
                <a:solidFill>
                  <a:srgbClr val="1F377F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choice</a:t>
            </a: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)</a:t>
            </a:r>
            <a:endParaRPr lang="ru-UA" sz="1000" kern="100" dirty="0">
              <a:effectLst/>
              <a:latin typeface="Cascadia Mono" panose="020B0609020000020004" pitchFamily="49" charset="0"/>
              <a:ea typeface="Aptos" panose="020B0004020202020204" pitchFamily="34" charset="0"/>
              <a:cs typeface="Cascadia Mono" panose="020B06090200000200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    {</a:t>
            </a:r>
            <a:endParaRPr lang="ru-UA" sz="1000" kern="100" dirty="0">
              <a:effectLst/>
              <a:latin typeface="Cascadia Mono" panose="020B0609020000020004" pitchFamily="49" charset="0"/>
              <a:ea typeface="Aptos" panose="020B0004020202020204" pitchFamily="34" charset="0"/>
              <a:cs typeface="Cascadia Mono" panose="020B06090200000200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        </a:t>
            </a:r>
            <a:r>
              <a:rPr lang="ru-UA" sz="1000" kern="0" dirty="0" err="1">
                <a:solidFill>
                  <a:srgbClr val="8F08C4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case</a:t>
            </a: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 1:</a:t>
            </a:r>
            <a:endParaRPr lang="ru-UA" sz="1000" kern="100" dirty="0">
              <a:effectLst/>
              <a:latin typeface="Cascadia Mono" panose="020B0609020000020004" pitchFamily="49" charset="0"/>
              <a:ea typeface="Aptos" panose="020B0004020202020204" pitchFamily="34" charset="0"/>
              <a:cs typeface="Cascadia Mono" panose="020B06090200000200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            </a:t>
            </a:r>
            <a:r>
              <a:rPr lang="ru-UA" sz="1000" kern="0" dirty="0" err="1">
                <a:solidFill>
                  <a:srgbClr val="2B91AF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Menu</a:t>
            </a:r>
            <a:r>
              <a:rPr lang="ru-UA" sz="1000" kern="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.</a:t>
            </a:r>
            <a:r>
              <a:rPr lang="ru-UA" sz="1000" kern="0" dirty="0" err="1">
                <a:solidFill>
                  <a:srgbClr val="74531F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ShowProducts</a:t>
            </a: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(</a:t>
            </a:r>
            <a:r>
              <a:rPr lang="ru-UA" sz="1000" kern="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session.CurrentShop</a:t>
            </a: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, </a:t>
            </a:r>
            <a:r>
              <a:rPr lang="ru-UA" sz="1000" kern="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session.CurrentCustomer</a:t>
            </a: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); </a:t>
            </a:r>
            <a:endParaRPr lang="ru-UA" sz="1000" kern="100" dirty="0">
              <a:effectLst/>
              <a:latin typeface="Cascadia Mono" panose="020B0609020000020004" pitchFamily="49" charset="0"/>
              <a:ea typeface="Aptos" panose="020B0004020202020204" pitchFamily="34" charset="0"/>
              <a:cs typeface="Cascadia Mono" panose="020B06090200000200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        </a:t>
            </a:r>
            <a:r>
              <a:rPr lang="ru-UA" sz="1000" kern="0" dirty="0" err="1">
                <a:solidFill>
                  <a:srgbClr val="8F08C4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case</a:t>
            </a: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 2:</a:t>
            </a:r>
            <a:endParaRPr lang="ru-UA" sz="1000" kern="100" dirty="0">
              <a:effectLst/>
              <a:latin typeface="Cascadia Mono" panose="020B0609020000020004" pitchFamily="49" charset="0"/>
              <a:ea typeface="Aptos" panose="020B0004020202020204" pitchFamily="34" charset="0"/>
              <a:cs typeface="Cascadia Mono" panose="020B06090200000200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            </a:t>
            </a:r>
            <a:r>
              <a:rPr lang="ru-UA" sz="1000" kern="0" dirty="0" err="1">
                <a:solidFill>
                  <a:srgbClr val="2B91AF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Menu</a:t>
            </a:r>
            <a:r>
              <a:rPr lang="ru-UA" sz="1000" kern="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.</a:t>
            </a:r>
            <a:r>
              <a:rPr lang="ru-UA" sz="1000" kern="0" dirty="0" err="1">
                <a:solidFill>
                  <a:srgbClr val="74531F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ShowInfo</a:t>
            </a: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(</a:t>
            </a:r>
            <a:r>
              <a:rPr lang="ru-UA" sz="1000" kern="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session.CurrentShop</a:t>
            </a: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); </a:t>
            </a:r>
            <a:endParaRPr lang="ru-UA" sz="1000" kern="100" dirty="0">
              <a:effectLst/>
              <a:latin typeface="Cascadia Mono" panose="020B0609020000020004" pitchFamily="49" charset="0"/>
              <a:ea typeface="Aptos" panose="020B0004020202020204" pitchFamily="34" charset="0"/>
              <a:cs typeface="Cascadia Mono" panose="020B06090200000200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        </a:t>
            </a:r>
            <a:r>
              <a:rPr lang="ru-UA" sz="1000" kern="0" dirty="0" err="1">
                <a:solidFill>
                  <a:srgbClr val="8F08C4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case</a:t>
            </a: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 3 </a:t>
            </a:r>
            <a:r>
              <a:rPr lang="ru-UA" sz="1000" kern="0" dirty="0" err="1">
                <a:solidFill>
                  <a:srgbClr val="8F08C4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when</a:t>
            </a: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 </a:t>
            </a:r>
            <a:r>
              <a:rPr lang="ru-UA" sz="1000" kern="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session.SecurityLevel</a:t>
            </a: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 &gt;= 2:</a:t>
            </a:r>
            <a:endParaRPr lang="ru-UA" sz="1000" kern="100" dirty="0">
              <a:effectLst/>
              <a:latin typeface="Cascadia Mono" panose="020B0609020000020004" pitchFamily="49" charset="0"/>
              <a:ea typeface="Aptos" panose="020B0004020202020204" pitchFamily="34" charset="0"/>
              <a:cs typeface="Cascadia Mono" panose="020B06090200000200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            </a:t>
            </a:r>
            <a:r>
              <a:rPr lang="ru-UA" sz="1000" kern="0" dirty="0" err="1">
                <a:solidFill>
                  <a:srgbClr val="2B91AF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Menu</a:t>
            </a:r>
            <a:r>
              <a:rPr lang="ru-UA" sz="1000" kern="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.</a:t>
            </a:r>
            <a:r>
              <a:rPr lang="ru-UA" sz="1000" kern="0" dirty="0" err="1">
                <a:solidFill>
                  <a:srgbClr val="74531F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ShowCustomersManager</a:t>
            </a: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(</a:t>
            </a:r>
            <a:r>
              <a:rPr lang="ru-UA" sz="1000" kern="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session.CurrentShop</a:t>
            </a: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, </a:t>
            </a:r>
            <a:r>
              <a:rPr lang="ru-UA" sz="1000" kern="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CustomerList</a:t>
            </a: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); </a:t>
            </a:r>
            <a:endParaRPr lang="ru-UA" sz="1000" kern="100" dirty="0">
              <a:effectLst/>
              <a:latin typeface="Cascadia Mono" panose="020B0609020000020004" pitchFamily="49" charset="0"/>
              <a:ea typeface="Aptos" panose="020B0004020202020204" pitchFamily="34" charset="0"/>
              <a:cs typeface="Cascadia Mono" panose="020B06090200000200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        </a:t>
            </a:r>
            <a:r>
              <a:rPr lang="ru-UA" sz="1000" kern="0" dirty="0" err="1">
                <a:solidFill>
                  <a:srgbClr val="8F08C4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case</a:t>
            </a: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 4 </a:t>
            </a:r>
            <a:r>
              <a:rPr lang="ru-UA" sz="1000" kern="0" dirty="0" err="1">
                <a:solidFill>
                  <a:srgbClr val="8F08C4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when</a:t>
            </a: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 </a:t>
            </a:r>
            <a:r>
              <a:rPr lang="ru-UA" sz="1000" kern="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session.SecurityLevel</a:t>
            </a: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 &gt;= 2:</a:t>
            </a:r>
            <a:endParaRPr lang="ru-UA" sz="1000" kern="100" dirty="0">
              <a:effectLst/>
              <a:latin typeface="Cascadia Mono" panose="020B0609020000020004" pitchFamily="49" charset="0"/>
              <a:ea typeface="Aptos" panose="020B0004020202020204" pitchFamily="34" charset="0"/>
              <a:cs typeface="Cascadia Mono" panose="020B06090200000200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            </a:t>
            </a:r>
            <a:r>
              <a:rPr lang="ru-UA" sz="1000" kern="0" dirty="0" err="1">
                <a:solidFill>
                  <a:srgbClr val="2B91AF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Menu</a:t>
            </a:r>
            <a:r>
              <a:rPr lang="ru-UA" sz="1000" kern="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.</a:t>
            </a:r>
            <a:r>
              <a:rPr lang="ru-UA" sz="1000" kern="0" dirty="0" err="1">
                <a:solidFill>
                  <a:srgbClr val="74531F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ShowAddProduct</a:t>
            </a: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(</a:t>
            </a:r>
            <a:r>
              <a:rPr lang="ru-UA" sz="1000" kern="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session.CurrentShop</a:t>
            </a: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); </a:t>
            </a:r>
            <a:endParaRPr lang="ru-UA" sz="1000" kern="100" dirty="0">
              <a:effectLst/>
              <a:latin typeface="Cascadia Mono" panose="020B0609020000020004" pitchFamily="49" charset="0"/>
              <a:ea typeface="Aptos" panose="020B0004020202020204" pitchFamily="34" charset="0"/>
              <a:cs typeface="Cascadia Mono" panose="020B06090200000200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        </a:t>
            </a:r>
            <a:r>
              <a:rPr lang="ru-UA" sz="1000" kern="0" dirty="0" err="1">
                <a:solidFill>
                  <a:srgbClr val="8F08C4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case</a:t>
            </a: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 5 </a:t>
            </a:r>
            <a:r>
              <a:rPr lang="ru-UA" sz="1000" kern="0" dirty="0" err="1">
                <a:solidFill>
                  <a:srgbClr val="8F08C4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when</a:t>
            </a: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 </a:t>
            </a:r>
            <a:r>
              <a:rPr lang="ru-UA" sz="1000" kern="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session.SecurityLevel</a:t>
            </a: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 &gt;= 2:</a:t>
            </a:r>
            <a:endParaRPr lang="ru-UA" sz="1000" kern="100" dirty="0">
              <a:effectLst/>
              <a:latin typeface="Cascadia Mono" panose="020B0609020000020004" pitchFamily="49" charset="0"/>
              <a:ea typeface="Aptos" panose="020B0004020202020204" pitchFamily="34" charset="0"/>
              <a:cs typeface="Cascadia Mono" panose="020B06090200000200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            </a:t>
            </a:r>
            <a:r>
              <a:rPr lang="ru-UA" sz="1000" kern="0" dirty="0" err="1">
                <a:solidFill>
                  <a:srgbClr val="2B91AF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Menu</a:t>
            </a:r>
            <a:r>
              <a:rPr lang="ru-UA" sz="1000" kern="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.</a:t>
            </a:r>
            <a:r>
              <a:rPr lang="ru-UA" sz="1000" kern="0" dirty="0" err="1">
                <a:solidFill>
                  <a:srgbClr val="74531F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ShowHistory</a:t>
            </a: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(</a:t>
            </a:r>
            <a:r>
              <a:rPr lang="ru-UA" sz="1000" kern="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session.CurrentShop</a:t>
            </a: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); </a:t>
            </a:r>
            <a:endParaRPr lang="ru-UA" sz="1000" kern="100" dirty="0">
              <a:effectLst/>
              <a:latin typeface="Cascadia Mono" panose="020B0609020000020004" pitchFamily="49" charset="0"/>
              <a:ea typeface="Aptos" panose="020B0004020202020204" pitchFamily="34" charset="0"/>
              <a:cs typeface="Cascadia Mono" panose="020B06090200000200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        </a:t>
            </a:r>
            <a:r>
              <a:rPr lang="ru-UA" sz="1000" kern="0" dirty="0" err="1">
                <a:solidFill>
                  <a:srgbClr val="8F08C4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default</a:t>
            </a: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:</a:t>
            </a:r>
            <a:endParaRPr lang="ru-UA" sz="1000" kern="100" dirty="0">
              <a:effectLst/>
              <a:latin typeface="Cascadia Mono" panose="020B0609020000020004" pitchFamily="49" charset="0"/>
              <a:ea typeface="Aptos" panose="020B0004020202020204" pitchFamily="34" charset="0"/>
              <a:cs typeface="Cascadia Mono" panose="020B06090200000200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            </a:t>
            </a:r>
            <a:r>
              <a:rPr lang="ru-UA" sz="1000" kern="0" dirty="0" err="1">
                <a:solidFill>
                  <a:srgbClr val="2B91AF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Console</a:t>
            </a:r>
            <a:r>
              <a:rPr lang="ru-UA" sz="1000" kern="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.</a:t>
            </a:r>
            <a:r>
              <a:rPr lang="ru-UA" sz="1000" kern="0" dirty="0" err="1">
                <a:solidFill>
                  <a:srgbClr val="74531F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WriteLine</a:t>
            </a: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(</a:t>
            </a:r>
            <a:r>
              <a:rPr lang="ru-UA" sz="1000" kern="0" dirty="0">
                <a:solidFill>
                  <a:srgbClr val="A31515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"</a:t>
            </a:r>
            <a:r>
              <a:rPr lang="ru-UA" sz="1000" kern="0" dirty="0" err="1">
                <a:solidFill>
                  <a:srgbClr val="A31515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Невірний</a:t>
            </a:r>
            <a:r>
              <a:rPr lang="ru-UA" sz="1000" kern="0" dirty="0">
                <a:solidFill>
                  <a:srgbClr val="A31515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 </a:t>
            </a:r>
            <a:r>
              <a:rPr lang="ru-UA" sz="1000" kern="0" dirty="0" err="1">
                <a:solidFill>
                  <a:srgbClr val="A31515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вибір</a:t>
            </a:r>
            <a:r>
              <a:rPr lang="ru-UA" sz="1000" kern="0" dirty="0">
                <a:solidFill>
                  <a:srgbClr val="A31515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!"</a:t>
            </a: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);</a:t>
            </a:r>
            <a:endParaRPr lang="ru-UA" sz="1000" kern="100" dirty="0">
              <a:effectLst/>
              <a:latin typeface="Cascadia Mono" panose="020B0609020000020004" pitchFamily="49" charset="0"/>
              <a:ea typeface="Aptos" panose="020B0004020202020204" pitchFamily="34" charset="0"/>
              <a:cs typeface="Cascadia Mono" panose="020B06090200000200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            </a:t>
            </a:r>
            <a:r>
              <a:rPr lang="ru-UA" sz="1000" kern="0" dirty="0" err="1">
                <a:solidFill>
                  <a:srgbClr val="2B91AF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Console</a:t>
            </a:r>
            <a:r>
              <a:rPr lang="ru-UA" sz="1000" kern="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.</a:t>
            </a:r>
            <a:r>
              <a:rPr lang="ru-UA" sz="1000" kern="0" dirty="0" err="1">
                <a:solidFill>
                  <a:srgbClr val="74531F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ReadKey</a:t>
            </a: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();</a:t>
            </a:r>
            <a:endParaRPr lang="ru-UA" sz="1000" kern="100" dirty="0">
              <a:effectLst/>
              <a:latin typeface="Cascadia Mono" panose="020B0609020000020004" pitchFamily="49" charset="0"/>
              <a:ea typeface="Aptos" panose="020B0004020202020204" pitchFamily="34" charset="0"/>
              <a:cs typeface="Cascadia Mono" panose="020B06090200000200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    </a:t>
            </a: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}</a:t>
            </a:r>
            <a:endParaRPr lang="ru-UA" sz="1000" kern="100" dirty="0">
              <a:effectLst/>
              <a:latin typeface="Cascadia Mono" panose="020B0609020000020004" pitchFamily="49" charset="0"/>
              <a:ea typeface="Aptos" panose="020B0004020202020204" pitchFamily="34" charset="0"/>
              <a:cs typeface="Cascadia Mono" panose="020B06090200000200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UA" sz="1000" kern="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}</a:t>
            </a:r>
            <a:endParaRPr lang="ru-UA" sz="1000" kern="100" dirty="0">
              <a:effectLst/>
              <a:latin typeface="Cascadia Mono" panose="020B0609020000020004" pitchFamily="49" charset="0"/>
              <a:ea typeface="Aptos" panose="020B0004020202020204" pitchFamily="34" charset="0"/>
              <a:cs typeface="Cascadia Mono" panose="020B06090200000200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kern="100" dirty="0">
                <a:effectLst/>
                <a:latin typeface="Cascadia Mono" panose="020B0609020000020004" pitchFamily="49" charset="0"/>
                <a:ea typeface="Aptos" panose="020B0004020202020204" pitchFamily="34" charset="0"/>
                <a:cs typeface="Cascadia Mono" panose="020B0609020000020004" pitchFamily="49" charset="0"/>
              </a:rPr>
              <a:t> </a:t>
            </a:r>
            <a:endParaRPr lang="ru-UA" sz="1000" kern="100" dirty="0">
              <a:effectLst/>
              <a:latin typeface="Cascadia Mono" panose="020B0609020000020004" pitchFamily="49" charset="0"/>
              <a:ea typeface="Aptos" panose="020B0004020202020204" pitchFamily="34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8813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9668A-209F-8181-49E7-87A19D34F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93802A-7EDC-ED8C-169C-3A2209F40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Файл </a:t>
            </a:r>
            <a:r>
              <a:rPr lang="en-US" dirty="0" err="1"/>
              <a:t>Menu.cs</a:t>
            </a:r>
            <a:endParaRPr lang="ru-UA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2E994E2-A914-804A-A079-BA9EC6E7D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uk-UA" sz="1600" b="1" kern="100" dirty="0">
                <a:effectLst/>
                <a:latin typeface="Calibri (Основной текст)"/>
                <a:ea typeface="Aptos" panose="020B0004020202020204" pitchFamily="34" charset="0"/>
                <a:cs typeface="Cascadia Mono" panose="020B0609020000020004" pitchFamily="49" charset="0"/>
              </a:rPr>
              <a:t>Методи</a:t>
            </a:r>
            <a:r>
              <a:rPr lang="uk-UA" sz="1400" kern="100" dirty="0">
                <a:effectLst/>
                <a:latin typeface="Calibri (Основной текст)"/>
                <a:ea typeface="Aptos" panose="020B0004020202020204" pitchFamily="34" charset="0"/>
                <a:cs typeface="Cascadia Mono" panose="020B0609020000020004" pitchFamily="49" charset="0"/>
              </a:rPr>
              <a:t>:</a:t>
            </a:r>
          </a:p>
          <a:p>
            <a:pPr marL="342900" indent="-3429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UA" sz="1600" kern="100" dirty="0">
                <a:solidFill>
                  <a:srgbClr val="00B05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Shop</a:t>
            </a:r>
            <a:r>
              <a:rPr lang="ru-UA" sz="1600" kern="100" dirty="0">
                <a:effectLst/>
                <a:latin typeface="Calibri (Основной текст)"/>
                <a:ea typeface="Aptos" panose="020B0004020202020204" pitchFamily="34" charset="0"/>
              </a:rPr>
              <a:t> </a:t>
            </a:r>
            <a:r>
              <a:rPr lang="ru-UA" sz="1600" kern="100" dirty="0" err="1">
                <a:solidFill>
                  <a:srgbClr val="CC990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ShowShopSelectMenu</a:t>
            </a:r>
            <a:r>
              <a:rPr lang="ru-UA" sz="1600" kern="100" dirty="0">
                <a:effectLst/>
                <a:latin typeface="Calibri (Основной текст)"/>
                <a:ea typeface="Aptos" panose="020B0004020202020204" pitchFamily="34" charset="0"/>
              </a:rPr>
              <a:t>(</a:t>
            </a:r>
            <a:r>
              <a:rPr lang="ru-UA" sz="1600" kern="100" dirty="0">
                <a:solidFill>
                  <a:srgbClr val="00B05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List</a:t>
            </a:r>
            <a:r>
              <a:rPr lang="ru-UA" sz="1600" kern="100" dirty="0">
                <a:effectLst/>
                <a:latin typeface="Calibri (Основной текст)"/>
                <a:ea typeface="Aptos" panose="020B0004020202020204" pitchFamily="34" charset="0"/>
              </a:rPr>
              <a:t>&lt;</a:t>
            </a:r>
            <a:r>
              <a:rPr lang="ru-UA" sz="1600" kern="100" dirty="0">
                <a:solidFill>
                  <a:srgbClr val="00B05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Shop</a:t>
            </a:r>
            <a:r>
              <a:rPr lang="ru-UA" sz="1600" kern="100" dirty="0">
                <a:effectLst/>
                <a:latin typeface="Calibri (Основной текст)"/>
                <a:ea typeface="Aptos" panose="020B0004020202020204" pitchFamily="34" charset="0"/>
              </a:rPr>
              <a:t>&gt; </a:t>
            </a:r>
            <a:r>
              <a:rPr lang="ru-UA" sz="1600" kern="100" dirty="0" err="1">
                <a:solidFill>
                  <a:srgbClr val="00B0F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shopList</a:t>
            </a:r>
            <a:r>
              <a:rPr lang="ru-UA" sz="1600" kern="100" dirty="0">
                <a:effectLst/>
                <a:latin typeface="Calibri (Основной текст)"/>
                <a:ea typeface="Aptos" panose="020B0004020202020204" pitchFamily="34" charset="0"/>
              </a:rPr>
              <a:t>) – </a:t>
            </a:r>
            <a:r>
              <a:rPr lang="ru-UA" sz="1600" kern="100" dirty="0" err="1">
                <a:effectLst/>
                <a:latin typeface="Calibri (Основной текст)"/>
                <a:ea typeface="Aptos" panose="020B0004020202020204" pitchFamily="34" charset="0"/>
              </a:rPr>
              <a:t>показує</a:t>
            </a:r>
            <a:r>
              <a:rPr lang="ru-UA" sz="1600" kern="100" dirty="0">
                <a:effectLst/>
                <a:latin typeface="Calibri (Основной текст)"/>
                <a:ea typeface="Aptos" panose="020B0004020202020204" pitchFamily="34" charset="0"/>
              </a:rPr>
              <a:t> список </a:t>
            </a:r>
            <a:r>
              <a:rPr lang="ru-UA" sz="1600" kern="100" dirty="0" err="1">
                <a:effectLst/>
                <a:latin typeface="Calibri (Основной текст)"/>
                <a:ea typeface="Aptos" panose="020B0004020202020204" pitchFamily="34" charset="0"/>
              </a:rPr>
              <a:t>доступних</a:t>
            </a:r>
            <a:r>
              <a:rPr lang="ru-UA" sz="1600" kern="100" dirty="0">
                <a:effectLst/>
                <a:latin typeface="Calibri (Основной текст)"/>
                <a:ea typeface="Aptos" panose="020B0004020202020204" pitchFamily="34" charset="0"/>
              </a:rPr>
              <a:t> </a:t>
            </a:r>
            <a:r>
              <a:rPr lang="ru-UA" sz="1600" kern="100" dirty="0" err="1">
                <a:effectLst/>
                <a:latin typeface="Calibri (Основной текст)"/>
                <a:ea typeface="Aptos" panose="020B0004020202020204" pitchFamily="34" charset="0"/>
              </a:rPr>
              <a:t>магазинів</a:t>
            </a:r>
            <a:r>
              <a:rPr lang="ru-UA" sz="1600" kern="100" dirty="0">
                <a:effectLst/>
                <a:latin typeface="Calibri (Основной текст)"/>
                <a:ea typeface="Aptos" panose="020B0004020202020204" pitchFamily="34" charset="0"/>
              </a:rPr>
              <a:t> для </a:t>
            </a:r>
            <a:r>
              <a:rPr lang="ru-UA" sz="1600" kern="100" dirty="0" err="1">
                <a:effectLst/>
                <a:latin typeface="Calibri (Основной текст)"/>
                <a:ea typeface="Aptos" panose="020B0004020202020204" pitchFamily="34" charset="0"/>
              </a:rPr>
              <a:t>вибору</a:t>
            </a:r>
            <a:r>
              <a:rPr lang="ru-UA" sz="1600" kern="100" dirty="0">
                <a:effectLst/>
                <a:latin typeface="Calibri (Основной текст)"/>
                <a:ea typeface="Aptos" panose="020B0004020202020204" pitchFamily="34" charset="0"/>
              </a:rPr>
              <a:t>. </a:t>
            </a:r>
          </a:p>
          <a:p>
            <a:pPr marL="342900" indent="-3429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UA" sz="1600" kern="100" dirty="0">
                <a:effectLst/>
                <a:latin typeface="Calibri (Основной текст)"/>
                <a:ea typeface="Aptos" panose="020B0004020202020204" pitchFamily="34" charset="0"/>
              </a:rPr>
              <a:t>(</a:t>
            </a:r>
            <a:r>
              <a:rPr lang="ru-UA" sz="1600" kern="100" dirty="0" err="1">
                <a:solidFill>
                  <a:srgbClr val="0070C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int</a:t>
            </a:r>
            <a:r>
              <a:rPr lang="ru-UA" sz="1600" kern="100" dirty="0">
                <a:effectLst/>
                <a:latin typeface="Calibri (Основной текст)"/>
                <a:ea typeface="Aptos" panose="020B0004020202020204" pitchFamily="34" charset="0"/>
              </a:rPr>
              <a:t> </a:t>
            </a:r>
            <a:r>
              <a:rPr lang="ru-UA" sz="1600" kern="100" dirty="0" err="1">
                <a:effectLst/>
                <a:latin typeface="Calibri (Основной текст)"/>
                <a:ea typeface="Aptos" panose="020B0004020202020204" pitchFamily="34" charset="0"/>
              </a:rPr>
              <a:t>securityLevel</a:t>
            </a:r>
            <a:r>
              <a:rPr lang="ru-UA" sz="1600" kern="100" dirty="0">
                <a:effectLst/>
                <a:latin typeface="Calibri (Основной текст)"/>
                <a:ea typeface="Aptos" panose="020B0004020202020204" pitchFamily="34" charset="0"/>
              </a:rPr>
              <a:t>, </a:t>
            </a:r>
            <a:r>
              <a:rPr lang="ru-UA" sz="1600" kern="100" dirty="0">
                <a:solidFill>
                  <a:srgbClr val="00B05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Customer</a:t>
            </a:r>
            <a:r>
              <a:rPr lang="ru-UA" sz="1600" kern="100" dirty="0">
                <a:effectLst/>
                <a:latin typeface="Calibri (Основной текст)"/>
                <a:ea typeface="Aptos" panose="020B0004020202020204" pitchFamily="34" charset="0"/>
              </a:rPr>
              <a:t> </a:t>
            </a:r>
            <a:r>
              <a:rPr lang="ru-UA" sz="1600" kern="100" dirty="0" err="1">
                <a:solidFill>
                  <a:srgbClr val="00B0F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customer</a:t>
            </a:r>
            <a:r>
              <a:rPr lang="ru-UA" sz="1600" kern="100" dirty="0">
                <a:effectLst/>
                <a:latin typeface="Calibri (Основной текст)"/>
                <a:ea typeface="Aptos" panose="020B0004020202020204" pitchFamily="34" charset="0"/>
              </a:rPr>
              <a:t>) </a:t>
            </a:r>
            <a:r>
              <a:rPr lang="ru-UA" sz="1600" kern="100" dirty="0" err="1">
                <a:solidFill>
                  <a:srgbClr val="CC990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ShowCustomerSelectMenu</a:t>
            </a:r>
            <a:r>
              <a:rPr lang="ru-UA" sz="1600" kern="100" dirty="0">
                <a:effectLst/>
                <a:latin typeface="Calibri (Основной текст)"/>
                <a:ea typeface="Aptos" panose="020B0004020202020204" pitchFamily="34" charset="0"/>
              </a:rPr>
              <a:t>(</a:t>
            </a:r>
            <a:r>
              <a:rPr lang="ru-UA" sz="1600" kern="100" dirty="0">
                <a:solidFill>
                  <a:srgbClr val="00B05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List</a:t>
            </a:r>
            <a:r>
              <a:rPr lang="ru-UA" sz="1600" kern="100" dirty="0">
                <a:effectLst/>
                <a:latin typeface="Calibri (Основной текст)"/>
                <a:ea typeface="Aptos" panose="020B0004020202020204" pitchFamily="34" charset="0"/>
              </a:rPr>
              <a:t>&lt;</a:t>
            </a:r>
            <a:r>
              <a:rPr lang="ru-UA" sz="1600" kern="100" dirty="0">
                <a:solidFill>
                  <a:srgbClr val="00B05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Customer</a:t>
            </a:r>
            <a:r>
              <a:rPr lang="ru-UA" sz="1600" kern="100" dirty="0">
                <a:effectLst/>
                <a:latin typeface="Calibri (Основной текст)"/>
                <a:ea typeface="Aptos" panose="020B0004020202020204" pitchFamily="34" charset="0"/>
              </a:rPr>
              <a:t>&gt; </a:t>
            </a:r>
            <a:r>
              <a:rPr lang="ru-UA" sz="1600" kern="100" dirty="0" err="1">
                <a:solidFill>
                  <a:srgbClr val="00B0F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CustomerList</a:t>
            </a:r>
            <a:r>
              <a:rPr lang="ru-UA" sz="1600" kern="100" dirty="0">
                <a:effectLst/>
                <a:latin typeface="Calibri (Основной текст)"/>
                <a:ea typeface="Aptos" panose="020B0004020202020204" pitchFamily="34" charset="0"/>
              </a:rPr>
              <a:t>, Shop </a:t>
            </a:r>
            <a:r>
              <a:rPr lang="ru-UA" sz="1600" kern="100" dirty="0" err="1">
                <a:effectLst/>
                <a:latin typeface="Calibri (Основной текст)"/>
                <a:ea typeface="Aptos" panose="020B0004020202020204" pitchFamily="34" charset="0"/>
              </a:rPr>
              <a:t>currentShop</a:t>
            </a:r>
            <a:r>
              <a:rPr lang="ru-UA" sz="1600" kern="100" dirty="0">
                <a:effectLst/>
                <a:latin typeface="Calibri (Основной текст)"/>
                <a:ea typeface="Aptos" panose="020B0004020202020204" pitchFamily="34" charset="0"/>
              </a:rPr>
              <a:t>) – </a:t>
            </a:r>
            <a:r>
              <a:rPr lang="ru-UA" sz="1600" kern="100" dirty="0" err="1">
                <a:effectLst/>
                <a:latin typeface="Calibri (Основной текст)"/>
                <a:ea typeface="Aptos" panose="020B0004020202020204" pitchFamily="34" charset="0"/>
              </a:rPr>
              <a:t>авторизація</a:t>
            </a:r>
            <a:r>
              <a:rPr lang="ru-UA" sz="1600" kern="100" dirty="0">
                <a:effectLst/>
                <a:latin typeface="Calibri (Основной текст)"/>
                <a:ea typeface="Aptos" panose="020B0004020202020204" pitchFamily="34" charset="0"/>
              </a:rPr>
              <a:t> </a:t>
            </a:r>
            <a:r>
              <a:rPr lang="ru-UA" sz="1600" kern="100" dirty="0" err="1">
                <a:effectLst/>
                <a:latin typeface="Calibri (Основной текст)"/>
                <a:ea typeface="Aptos" panose="020B0004020202020204" pitchFamily="34" charset="0"/>
              </a:rPr>
              <a:t>користувача</a:t>
            </a:r>
            <a:r>
              <a:rPr lang="ru-UA" sz="1600" kern="100" dirty="0">
                <a:effectLst/>
                <a:latin typeface="Calibri (Основной текст)"/>
                <a:ea typeface="Aptos" panose="020B0004020202020204" pitchFamily="34" charset="0"/>
              </a:rPr>
              <a:t> як гостя, </a:t>
            </a:r>
            <a:r>
              <a:rPr lang="ru-UA" sz="1600" kern="100" dirty="0" err="1">
                <a:effectLst/>
                <a:latin typeface="Calibri (Основной текст)"/>
                <a:ea typeface="Aptos" panose="020B0004020202020204" pitchFamily="34" charset="0"/>
              </a:rPr>
              <a:t>постійного</a:t>
            </a:r>
            <a:r>
              <a:rPr lang="ru-UA" sz="1600" kern="100" dirty="0">
                <a:effectLst/>
                <a:latin typeface="Calibri (Основной текст)"/>
                <a:ea typeface="Aptos" panose="020B0004020202020204" pitchFamily="34" charset="0"/>
              </a:rPr>
              <a:t> </a:t>
            </a:r>
            <a:r>
              <a:rPr lang="ru-UA" sz="1600" kern="100" dirty="0" err="1">
                <a:effectLst/>
                <a:latin typeface="Calibri (Основной текст)"/>
                <a:ea typeface="Aptos" panose="020B0004020202020204" pitchFamily="34" charset="0"/>
              </a:rPr>
              <a:t>клієнта</a:t>
            </a:r>
            <a:r>
              <a:rPr lang="ru-UA" sz="1600" kern="100" dirty="0">
                <a:effectLst/>
                <a:latin typeface="Calibri (Основной текст)"/>
                <a:ea typeface="Aptos" panose="020B0004020202020204" pitchFamily="34" charset="0"/>
              </a:rPr>
              <a:t> </a:t>
            </a:r>
            <a:r>
              <a:rPr lang="ru-UA" sz="1600" kern="100" dirty="0" err="1">
                <a:effectLst/>
                <a:latin typeface="Calibri (Основной текст)"/>
                <a:ea typeface="Aptos" panose="020B0004020202020204" pitchFamily="34" charset="0"/>
              </a:rPr>
              <a:t>або</a:t>
            </a:r>
            <a:r>
              <a:rPr lang="ru-UA" sz="1600" kern="100" dirty="0">
                <a:effectLst/>
                <a:latin typeface="Calibri (Основной текст)"/>
                <a:ea typeface="Aptos" panose="020B0004020202020204" pitchFamily="34" charset="0"/>
              </a:rPr>
              <a:t> менеджера. </a:t>
            </a:r>
          </a:p>
          <a:p>
            <a:pPr marL="342900" indent="-3429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UA" sz="1600" kern="100" dirty="0" err="1">
                <a:solidFill>
                  <a:srgbClr val="0070C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int</a:t>
            </a:r>
            <a:r>
              <a:rPr lang="ru-UA" sz="1600" kern="100" dirty="0">
                <a:effectLst/>
                <a:latin typeface="Calibri (Основной текст)"/>
                <a:ea typeface="Aptos" panose="020B0004020202020204" pitchFamily="34" charset="0"/>
              </a:rPr>
              <a:t> </a:t>
            </a:r>
            <a:r>
              <a:rPr lang="ru-UA" sz="1600" kern="100" dirty="0" err="1">
                <a:solidFill>
                  <a:srgbClr val="CC990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ShowMainMenu</a:t>
            </a:r>
            <a:r>
              <a:rPr lang="ru-UA" sz="1600" kern="100" dirty="0">
                <a:effectLst/>
                <a:latin typeface="Calibri (Основной текст)"/>
                <a:ea typeface="Aptos" panose="020B0004020202020204" pitchFamily="34" charset="0"/>
              </a:rPr>
              <a:t>(</a:t>
            </a:r>
            <a:r>
              <a:rPr lang="ru-UA" sz="1600" kern="100" dirty="0">
                <a:solidFill>
                  <a:srgbClr val="00B05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Shop</a:t>
            </a:r>
            <a:r>
              <a:rPr lang="ru-UA" sz="1600" kern="100" dirty="0">
                <a:effectLst/>
                <a:latin typeface="Calibri (Основной текст)"/>
                <a:ea typeface="Aptos" panose="020B0004020202020204" pitchFamily="34" charset="0"/>
              </a:rPr>
              <a:t> </a:t>
            </a:r>
            <a:r>
              <a:rPr lang="ru-UA" sz="1600" kern="100" dirty="0" err="1">
                <a:solidFill>
                  <a:srgbClr val="00B0F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currentShop</a:t>
            </a:r>
            <a:r>
              <a:rPr lang="ru-UA" sz="1600" kern="100" dirty="0">
                <a:effectLst/>
                <a:latin typeface="Calibri (Основной текст)"/>
                <a:ea typeface="Aptos" panose="020B0004020202020204" pitchFamily="34" charset="0"/>
              </a:rPr>
              <a:t>, </a:t>
            </a:r>
            <a:r>
              <a:rPr lang="ru-UA" sz="1600" kern="100" dirty="0" err="1">
                <a:solidFill>
                  <a:srgbClr val="0070C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int</a:t>
            </a:r>
            <a:r>
              <a:rPr lang="ru-UA" sz="1600" kern="100" dirty="0">
                <a:effectLst/>
                <a:latin typeface="Calibri (Основной текст)"/>
                <a:ea typeface="Aptos" panose="020B0004020202020204" pitchFamily="34" charset="0"/>
              </a:rPr>
              <a:t> </a:t>
            </a:r>
            <a:r>
              <a:rPr lang="ru-UA" sz="1600" kern="100" dirty="0" err="1">
                <a:solidFill>
                  <a:srgbClr val="00B0F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currentSecurityLevel</a:t>
            </a:r>
            <a:r>
              <a:rPr lang="ru-UA" sz="1600" kern="100" dirty="0">
                <a:effectLst/>
                <a:latin typeface="Calibri (Основной текст)"/>
                <a:ea typeface="Aptos" panose="020B0004020202020204" pitchFamily="34" charset="0"/>
              </a:rPr>
              <a:t>, </a:t>
            </a:r>
            <a:r>
              <a:rPr lang="ru-UA" sz="1600" kern="100" dirty="0">
                <a:solidFill>
                  <a:srgbClr val="00B05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Customer</a:t>
            </a:r>
            <a:r>
              <a:rPr lang="ru-UA" sz="1600" kern="100" dirty="0">
                <a:effectLst/>
                <a:latin typeface="Calibri (Основной текст)"/>
                <a:ea typeface="Aptos" panose="020B0004020202020204" pitchFamily="34" charset="0"/>
              </a:rPr>
              <a:t> </a:t>
            </a:r>
            <a:r>
              <a:rPr lang="ru-UA" sz="1600" kern="100" dirty="0" err="1">
                <a:solidFill>
                  <a:srgbClr val="00B0F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currentSessionCustomer</a:t>
            </a:r>
            <a:r>
              <a:rPr lang="ru-UA" sz="1600" kern="100" dirty="0">
                <a:effectLst/>
                <a:latin typeface="Calibri (Основной текст)"/>
                <a:ea typeface="Aptos" panose="020B0004020202020204" pitchFamily="34" charset="0"/>
              </a:rPr>
              <a:t>) – </a:t>
            </a:r>
            <a:r>
              <a:rPr lang="ru-UA" sz="1600" kern="100" dirty="0" err="1">
                <a:effectLst/>
                <a:latin typeface="Calibri (Основной текст)"/>
                <a:ea typeface="Aptos" panose="020B0004020202020204" pitchFamily="34" charset="0"/>
              </a:rPr>
              <a:t>показує</a:t>
            </a:r>
            <a:r>
              <a:rPr lang="ru-UA" sz="1600" kern="100" dirty="0">
                <a:effectLst/>
                <a:latin typeface="Calibri (Основной текст)"/>
                <a:ea typeface="Aptos" panose="020B0004020202020204" pitchFamily="34" charset="0"/>
              </a:rPr>
              <a:t> головне меню магазину </a:t>
            </a:r>
            <a:r>
              <a:rPr lang="ru-UA" sz="1600" kern="100" dirty="0" err="1">
                <a:effectLst/>
                <a:latin typeface="Calibri (Основной текст)"/>
                <a:ea typeface="Aptos" panose="020B0004020202020204" pitchFamily="34" charset="0"/>
              </a:rPr>
              <a:t>залежно</a:t>
            </a:r>
            <a:r>
              <a:rPr lang="ru-UA" sz="1600" kern="100" dirty="0">
                <a:effectLst/>
                <a:latin typeface="Calibri (Основной текст)"/>
                <a:ea typeface="Aptos" panose="020B0004020202020204" pitchFamily="34" charset="0"/>
              </a:rPr>
              <a:t> </a:t>
            </a:r>
            <a:r>
              <a:rPr lang="ru-UA" sz="1600" kern="100" dirty="0" err="1">
                <a:effectLst/>
                <a:latin typeface="Calibri (Основной текст)"/>
                <a:ea typeface="Aptos" panose="020B0004020202020204" pitchFamily="34" charset="0"/>
              </a:rPr>
              <a:t>від</a:t>
            </a:r>
            <a:r>
              <a:rPr lang="ru-UA" sz="1600" kern="100" dirty="0">
                <a:effectLst/>
                <a:latin typeface="Calibri (Основной текст)"/>
                <a:ea typeface="Aptos" panose="020B0004020202020204" pitchFamily="34" charset="0"/>
              </a:rPr>
              <a:t> прав доступу.</a:t>
            </a:r>
          </a:p>
          <a:p>
            <a:pPr marL="342900" indent="-3429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UA" sz="1600" kern="100" dirty="0" err="1">
                <a:solidFill>
                  <a:srgbClr val="0070C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void</a:t>
            </a:r>
            <a:r>
              <a:rPr lang="ru-UA" sz="1600" kern="100" dirty="0">
                <a:effectLst/>
                <a:latin typeface="Calibri (Основной текст)"/>
                <a:ea typeface="Aptos" panose="020B0004020202020204" pitchFamily="34" charset="0"/>
              </a:rPr>
              <a:t> </a:t>
            </a:r>
            <a:r>
              <a:rPr lang="ru-UA" sz="1600" kern="100" dirty="0" err="1">
                <a:solidFill>
                  <a:srgbClr val="CC990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ShowProducts</a:t>
            </a:r>
            <a:r>
              <a:rPr lang="ru-UA" sz="1600" kern="100" dirty="0">
                <a:effectLst/>
                <a:latin typeface="Calibri (Основной текст)"/>
                <a:ea typeface="Aptos" panose="020B0004020202020204" pitchFamily="34" charset="0"/>
              </a:rPr>
              <a:t>(</a:t>
            </a:r>
            <a:r>
              <a:rPr lang="ru-UA" sz="1600" kern="100" dirty="0">
                <a:solidFill>
                  <a:srgbClr val="00B05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Shop</a:t>
            </a:r>
            <a:r>
              <a:rPr lang="ru-UA" sz="1600" kern="100" dirty="0">
                <a:effectLst/>
                <a:latin typeface="Calibri (Основной текст)"/>
                <a:ea typeface="Aptos" panose="020B0004020202020204" pitchFamily="34" charset="0"/>
              </a:rPr>
              <a:t> </a:t>
            </a:r>
            <a:r>
              <a:rPr lang="ru-UA" sz="1600" kern="100" dirty="0" err="1">
                <a:solidFill>
                  <a:srgbClr val="00B0F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currentShop</a:t>
            </a:r>
            <a:r>
              <a:rPr lang="ru-UA" sz="1600" kern="100" dirty="0">
                <a:effectLst/>
                <a:latin typeface="Calibri (Основной текст)"/>
                <a:ea typeface="Aptos" panose="020B0004020202020204" pitchFamily="34" charset="0"/>
              </a:rPr>
              <a:t>, </a:t>
            </a:r>
            <a:r>
              <a:rPr lang="ru-UA" sz="1600" kern="100" dirty="0">
                <a:solidFill>
                  <a:srgbClr val="00B05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Customer</a:t>
            </a:r>
            <a:r>
              <a:rPr lang="ru-UA" sz="1600" kern="100" dirty="0">
                <a:effectLst/>
                <a:latin typeface="Calibri (Основной текст)"/>
                <a:ea typeface="Aptos" panose="020B0004020202020204" pitchFamily="34" charset="0"/>
              </a:rPr>
              <a:t> </a:t>
            </a:r>
            <a:r>
              <a:rPr lang="ru-UA" sz="1600" kern="100" dirty="0" err="1">
                <a:solidFill>
                  <a:srgbClr val="00B0F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currentSessionCustomer</a:t>
            </a:r>
            <a:r>
              <a:rPr lang="ru-UA" sz="1600" kern="100" dirty="0">
                <a:effectLst/>
                <a:latin typeface="Calibri (Основной текст)"/>
                <a:ea typeface="Aptos" panose="020B0004020202020204" pitchFamily="34" charset="0"/>
              </a:rPr>
              <a:t>) – </a:t>
            </a:r>
            <a:r>
              <a:rPr lang="ru-UA" sz="1600" kern="100" dirty="0" err="1">
                <a:effectLst/>
                <a:latin typeface="Calibri (Основной текст)"/>
                <a:ea typeface="Aptos" panose="020B0004020202020204" pitchFamily="34" charset="0"/>
              </a:rPr>
              <a:t>показує</a:t>
            </a:r>
            <a:r>
              <a:rPr lang="ru-UA" sz="1600" kern="100" dirty="0">
                <a:effectLst/>
                <a:latin typeface="Calibri (Основной текст)"/>
                <a:ea typeface="Aptos" panose="020B0004020202020204" pitchFamily="34" charset="0"/>
              </a:rPr>
              <a:t> список </a:t>
            </a:r>
            <a:r>
              <a:rPr lang="ru-UA" sz="1600" kern="100" dirty="0" err="1">
                <a:effectLst/>
                <a:latin typeface="Calibri (Основной текст)"/>
                <a:ea typeface="Aptos" panose="020B0004020202020204" pitchFamily="34" charset="0"/>
              </a:rPr>
              <a:t>товарів</a:t>
            </a:r>
            <a:r>
              <a:rPr lang="ru-UA" sz="1600" kern="100" dirty="0">
                <a:effectLst/>
                <a:latin typeface="Calibri (Основной текст)"/>
                <a:ea typeface="Aptos" panose="020B0004020202020204" pitchFamily="34" charset="0"/>
              </a:rPr>
              <a:t> та </a:t>
            </a:r>
            <a:r>
              <a:rPr lang="ru-UA" sz="1600" kern="100" dirty="0" err="1">
                <a:effectLst/>
                <a:latin typeface="Calibri (Основной текст)"/>
                <a:ea typeface="Aptos" panose="020B0004020202020204" pitchFamily="34" charset="0"/>
              </a:rPr>
              <a:t>дозволяє</a:t>
            </a:r>
            <a:r>
              <a:rPr lang="ru-UA" sz="1600" kern="100" dirty="0">
                <a:effectLst/>
                <a:latin typeface="Calibri (Основной текст)"/>
                <a:ea typeface="Aptos" panose="020B0004020202020204" pitchFamily="34" charset="0"/>
              </a:rPr>
              <a:t> </a:t>
            </a:r>
            <a:r>
              <a:rPr lang="ru-UA" sz="1600" kern="100" dirty="0" err="1">
                <a:effectLst/>
                <a:latin typeface="Calibri (Основной текст)"/>
                <a:ea typeface="Aptos" panose="020B0004020202020204" pitchFamily="34" charset="0"/>
              </a:rPr>
              <a:t>купувати</a:t>
            </a:r>
            <a:r>
              <a:rPr lang="ru-UA" sz="1600" kern="100" dirty="0">
                <a:effectLst/>
                <a:latin typeface="Calibri (Основной текст)"/>
                <a:ea typeface="Aptos" panose="020B0004020202020204" pitchFamily="34" charset="0"/>
              </a:rPr>
              <a:t> </a:t>
            </a:r>
            <a:r>
              <a:rPr lang="ru-UA" sz="1600" kern="100" dirty="0" err="1">
                <a:effectLst/>
                <a:latin typeface="Calibri (Основной текст)"/>
                <a:ea typeface="Aptos" panose="020B0004020202020204" pitchFamily="34" charset="0"/>
              </a:rPr>
              <a:t>товари</a:t>
            </a:r>
            <a:r>
              <a:rPr lang="ru-UA" sz="1600" kern="100" dirty="0">
                <a:effectLst/>
                <a:latin typeface="Calibri (Основной текст)"/>
                <a:ea typeface="Aptos" panose="020B0004020202020204" pitchFamily="34" charset="0"/>
              </a:rPr>
              <a:t>. </a:t>
            </a:r>
          </a:p>
          <a:p>
            <a:pPr marL="342900" indent="-3429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UA" sz="1600" kern="100" dirty="0" err="1">
                <a:solidFill>
                  <a:srgbClr val="0070C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void</a:t>
            </a:r>
            <a:r>
              <a:rPr lang="ru-UA" sz="1600" kern="100" dirty="0">
                <a:effectLst/>
                <a:latin typeface="Calibri (Основной текст)"/>
                <a:ea typeface="Aptos" panose="020B0004020202020204" pitchFamily="34" charset="0"/>
              </a:rPr>
              <a:t> </a:t>
            </a:r>
            <a:r>
              <a:rPr lang="ru-UA" sz="1600" kern="100" dirty="0" err="1">
                <a:solidFill>
                  <a:srgbClr val="CC990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ShowInfo</a:t>
            </a:r>
            <a:r>
              <a:rPr lang="ru-UA" sz="1600" kern="100" dirty="0">
                <a:effectLst/>
                <a:latin typeface="Calibri (Основной текст)"/>
                <a:ea typeface="Aptos" panose="020B0004020202020204" pitchFamily="34" charset="0"/>
              </a:rPr>
              <a:t>(</a:t>
            </a:r>
            <a:r>
              <a:rPr lang="ru-UA" sz="1600" kern="100" dirty="0">
                <a:solidFill>
                  <a:srgbClr val="00B05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Shop</a:t>
            </a:r>
            <a:r>
              <a:rPr lang="ru-UA" sz="1600" kern="100" dirty="0">
                <a:effectLst/>
                <a:latin typeface="Calibri (Основной текст)"/>
                <a:ea typeface="Aptos" panose="020B0004020202020204" pitchFamily="34" charset="0"/>
              </a:rPr>
              <a:t> </a:t>
            </a:r>
            <a:r>
              <a:rPr lang="ru-UA" sz="1600" kern="100" dirty="0" err="1">
                <a:solidFill>
                  <a:srgbClr val="00B0F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currentShop</a:t>
            </a:r>
            <a:r>
              <a:rPr lang="ru-UA" sz="1600" kern="100" dirty="0">
                <a:effectLst/>
                <a:latin typeface="Calibri (Основной текст)"/>
                <a:ea typeface="Aptos" panose="020B0004020202020204" pitchFamily="34" charset="0"/>
              </a:rPr>
              <a:t>) – </a:t>
            </a:r>
            <a:r>
              <a:rPr lang="ru-UA" sz="1600" kern="100" dirty="0" err="1">
                <a:effectLst/>
                <a:latin typeface="Calibri (Основной текст)"/>
                <a:ea typeface="Aptos" panose="020B0004020202020204" pitchFamily="34" charset="0"/>
              </a:rPr>
              <a:t>виводить</a:t>
            </a:r>
            <a:r>
              <a:rPr lang="ru-UA" sz="1600" kern="100" dirty="0">
                <a:effectLst/>
                <a:latin typeface="Calibri (Основной текст)"/>
                <a:ea typeface="Aptos" panose="020B0004020202020204" pitchFamily="34" charset="0"/>
              </a:rPr>
              <a:t> </a:t>
            </a:r>
            <a:r>
              <a:rPr lang="ru-UA" sz="1600" kern="100" dirty="0" err="1">
                <a:effectLst/>
                <a:latin typeface="Calibri (Основной текст)"/>
                <a:ea typeface="Aptos" panose="020B0004020202020204" pitchFamily="34" charset="0"/>
              </a:rPr>
              <a:t>інформацію</a:t>
            </a:r>
            <a:r>
              <a:rPr lang="ru-UA" sz="1600" kern="100" dirty="0">
                <a:effectLst/>
                <a:latin typeface="Calibri (Основной текст)"/>
                <a:ea typeface="Aptos" panose="020B0004020202020204" pitchFamily="34" charset="0"/>
              </a:rPr>
              <a:t> про магазин. </a:t>
            </a:r>
          </a:p>
          <a:p>
            <a:pPr marL="342900" indent="-3429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UA" sz="1600" kern="100" dirty="0" err="1">
                <a:solidFill>
                  <a:srgbClr val="0070C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void</a:t>
            </a:r>
            <a:r>
              <a:rPr lang="ru-UA" sz="1600" kern="100" dirty="0">
                <a:effectLst/>
                <a:latin typeface="Calibri (Основной текст)"/>
                <a:ea typeface="Aptos" panose="020B0004020202020204" pitchFamily="34" charset="0"/>
              </a:rPr>
              <a:t> </a:t>
            </a:r>
            <a:r>
              <a:rPr lang="ru-UA" sz="1600" kern="100" dirty="0" err="1">
                <a:solidFill>
                  <a:srgbClr val="CC990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ShowCustomersManager</a:t>
            </a:r>
            <a:r>
              <a:rPr lang="ru-UA" sz="1600" kern="100" dirty="0">
                <a:effectLst/>
                <a:latin typeface="Calibri (Основной текст)"/>
                <a:ea typeface="Aptos" panose="020B0004020202020204" pitchFamily="34" charset="0"/>
              </a:rPr>
              <a:t>(</a:t>
            </a:r>
            <a:r>
              <a:rPr lang="ru-UA" sz="1600" kern="100" dirty="0">
                <a:solidFill>
                  <a:srgbClr val="00B05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Shop</a:t>
            </a:r>
            <a:r>
              <a:rPr lang="ru-UA" sz="1600" kern="100" dirty="0">
                <a:effectLst/>
                <a:latin typeface="Calibri (Основной текст)"/>
                <a:ea typeface="Aptos" panose="020B0004020202020204" pitchFamily="34" charset="0"/>
              </a:rPr>
              <a:t> </a:t>
            </a:r>
            <a:r>
              <a:rPr lang="ru-UA" sz="1600" kern="100" dirty="0" err="1">
                <a:solidFill>
                  <a:srgbClr val="00B0F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currentShop</a:t>
            </a:r>
            <a:r>
              <a:rPr lang="ru-UA" sz="1600" kern="100" dirty="0">
                <a:effectLst/>
                <a:latin typeface="Calibri (Основной текст)"/>
                <a:ea typeface="Aptos" panose="020B0004020202020204" pitchFamily="34" charset="0"/>
              </a:rPr>
              <a:t>, </a:t>
            </a:r>
            <a:r>
              <a:rPr lang="ru-UA" sz="1600" kern="100" dirty="0">
                <a:solidFill>
                  <a:srgbClr val="00B05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List</a:t>
            </a:r>
            <a:r>
              <a:rPr lang="ru-UA" sz="1600" kern="100" dirty="0">
                <a:effectLst/>
                <a:latin typeface="Calibri (Основной текст)"/>
                <a:ea typeface="Aptos" panose="020B0004020202020204" pitchFamily="34" charset="0"/>
              </a:rPr>
              <a:t>&lt;</a:t>
            </a:r>
            <a:r>
              <a:rPr lang="ru-UA" sz="1600" kern="100" dirty="0">
                <a:solidFill>
                  <a:srgbClr val="00B05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Customer</a:t>
            </a:r>
            <a:r>
              <a:rPr lang="ru-UA" sz="1600" kern="100" dirty="0">
                <a:effectLst/>
                <a:latin typeface="Calibri (Основной текст)"/>
                <a:ea typeface="Aptos" panose="020B0004020202020204" pitchFamily="34" charset="0"/>
              </a:rPr>
              <a:t>&gt; </a:t>
            </a:r>
            <a:r>
              <a:rPr lang="ru-UA" sz="1600" kern="100" dirty="0" err="1">
                <a:solidFill>
                  <a:srgbClr val="00B0F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CustomerList</a:t>
            </a:r>
            <a:r>
              <a:rPr lang="ru-UA" sz="1600" kern="100" dirty="0">
                <a:effectLst/>
                <a:latin typeface="Calibri (Основной текст)"/>
                <a:ea typeface="Aptos" panose="020B0004020202020204" pitchFamily="34" charset="0"/>
              </a:rPr>
              <a:t>) – меню </a:t>
            </a:r>
            <a:r>
              <a:rPr lang="ru-UA" sz="1600" kern="100" dirty="0" err="1">
                <a:effectLst/>
                <a:latin typeface="Calibri (Основной текст)"/>
                <a:ea typeface="Aptos" panose="020B0004020202020204" pitchFamily="34" charset="0"/>
              </a:rPr>
              <a:t>керування</a:t>
            </a:r>
            <a:r>
              <a:rPr lang="ru-UA" sz="1600" kern="100" dirty="0">
                <a:effectLst/>
                <a:latin typeface="Calibri (Основной текст)"/>
                <a:ea typeface="Aptos" panose="020B0004020202020204" pitchFamily="34" charset="0"/>
              </a:rPr>
              <a:t> </a:t>
            </a:r>
            <a:r>
              <a:rPr lang="ru-UA" sz="1600" kern="100" dirty="0" err="1">
                <a:effectLst/>
                <a:latin typeface="Calibri (Основной текст)"/>
                <a:ea typeface="Aptos" panose="020B0004020202020204" pitchFamily="34" charset="0"/>
              </a:rPr>
              <a:t>постійними</a:t>
            </a:r>
            <a:r>
              <a:rPr lang="ru-UA" sz="1600" kern="100" dirty="0">
                <a:effectLst/>
                <a:latin typeface="Calibri (Основной текст)"/>
                <a:ea typeface="Aptos" panose="020B0004020202020204" pitchFamily="34" charset="0"/>
              </a:rPr>
              <a:t> </a:t>
            </a:r>
            <a:r>
              <a:rPr lang="ru-UA" sz="1600" kern="100" dirty="0" err="1">
                <a:effectLst/>
                <a:latin typeface="Calibri (Основной текст)"/>
                <a:ea typeface="Aptos" panose="020B0004020202020204" pitchFamily="34" charset="0"/>
              </a:rPr>
              <a:t>клієнтами</a:t>
            </a:r>
            <a:r>
              <a:rPr lang="ru-UA" sz="1600" kern="100" dirty="0">
                <a:effectLst/>
                <a:latin typeface="Calibri (Основной текст)"/>
                <a:ea typeface="Aptos" panose="020B0004020202020204" pitchFamily="34" charset="0"/>
              </a:rPr>
              <a:t>. </a:t>
            </a:r>
          </a:p>
          <a:p>
            <a:pPr marL="342900" indent="-3429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UA" sz="1600" kern="100" dirty="0" err="1">
                <a:solidFill>
                  <a:srgbClr val="0070C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void</a:t>
            </a:r>
            <a:r>
              <a:rPr lang="ru-UA" sz="1600" kern="100" dirty="0">
                <a:effectLst/>
                <a:latin typeface="Calibri (Основной текст)"/>
                <a:ea typeface="Aptos" panose="020B0004020202020204" pitchFamily="34" charset="0"/>
              </a:rPr>
              <a:t> </a:t>
            </a:r>
            <a:r>
              <a:rPr lang="ru-UA" sz="1600" kern="100" dirty="0" err="1">
                <a:solidFill>
                  <a:srgbClr val="CC990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ShowAddProduct</a:t>
            </a:r>
            <a:r>
              <a:rPr lang="ru-UA" sz="1600" kern="100" dirty="0">
                <a:effectLst/>
                <a:latin typeface="Calibri (Основной текст)"/>
                <a:ea typeface="Aptos" panose="020B0004020202020204" pitchFamily="34" charset="0"/>
              </a:rPr>
              <a:t>(</a:t>
            </a:r>
            <a:r>
              <a:rPr lang="ru-UA" sz="1600" kern="100" dirty="0">
                <a:solidFill>
                  <a:srgbClr val="00B05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Shop</a:t>
            </a:r>
            <a:r>
              <a:rPr lang="ru-UA" sz="1600" kern="100" dirty="0">
                <a:effectLst/>
                <a:latin typeface="Calibri (Основной текст)"/>
                <a:ea typeface="Aptos" panose="020B0004020202020204" pitchFamily="34" charset="0"/>
              </a:rPr>
              <a:t> </a:t>
            </a:r>
            <a:r>
              <a:rPr lang="ru-UA" sz="1600" kern="100" dirty="0" err="1">
                <a:solidFill>
                  <a:srgbClr val="00B0F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currentShop</a:t>
            </a:r>
            <a:r>
              <a:rPr lang="ru-UA" sz="1600" kern="100" dirty="0">
                <a:effectLst/>
                <a:latin typeface="Calibri (Основной текст)"/>
                <a:ea typeface="Aptos" panose="020B0004020202020204" pitchFamily="34" charset="0"/>
              </a:rPr>
              <a:t>) – меню </a:t>
            </a:r>
            <a:r>
              <a:rPr lang="ru-UA" sz="1600" kern="100" dirty="0" err="1">
                <a:effectLst/>
                <a:latin typeface="Calibri (Основной текст)"/>
                <a:ea typeface="Aptos" panose="020B0004020202020204" pitchFamily="34" charset="0"/>
              </a:rPr>
              <a:t>додавання</a:t>
            </a:r>
            <a:r>
              <a:rPr lang="ru-UA" sz="1600" kern="100" dirty="0">
                <a:effectLst/>
                <a:latin typeface="Calibri (Основной текст)"/>
                <a:ea typeface="Aptos" panose="020B0004020202020204" pitchFamily="34" charset="0"/>
              </a:rPr>
              <a:t> нового товару до магазину. </a:t>
            </a:r>
          </a:p>
          <a:p>
            <a:pPr marL="342900" indent="-3429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UA" sz="1600" kern="100" dirty="0" err="1">
                <a:solidFill>
                  <a:srgbClr val="0070C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void</a:t>
            </a:r>
            <a:r>
              <a:rPr lang="ru-UA" sz="1600" kern="100" dirty="0">
                <a:effectLst/>
                <a:latin typeface="Calibri (Основной текст)"/>
                <a:ea typeface="Aptos" panose="020B0004020202020204" pitchFamily="34" charset="0"/>
              </a:rPr>
              <a:t> </a:t>
            </a:r>
            <a:r>
              <a:rPr lang="ru-UA" sz="1600" kern="100" dirty="0" err="1">
                <a:solidFill>
                  <a:srgbClr val="CC990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ShowHistory</a:t>
            </a:r>
            <a:r>
              <a:rPr lang="ru-UA" sz="1600" kern="100" dirty="0">
                <a:effectLst/>
                <a:latin typeface="Calibri (Основной текст)"/>
                <a:ea typeface="Aptos" panose="020B0004020202020204" pitchFamily="34" charset="0"/>
              </a:rPr>
              <a:t>(</a:t>
            </a:r>
            <a:r>
              <a:rPr lang="ru-UA" sz="1600" kern="100" dirty="0">
                <a:solidFill>
                  <a:srgbClr val="00B05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Shop</a:t>
            </a:r>
            <a:r>
              <a:rPr lang="ru-UA" sz="1600" kern="100" dirty="0">
                <a:effectLst/>
                <a:latin typeface="Calibri (Основной текст)"/>
                <a:ea typeface="Aptos" panose="020B0004020202020204" pitchFamily="34" charset="0"/>
              </a:rPr>
              <a:t> </a:t>
            </a:r>
            <a:r>
              <a:rPr lang="ru-UA" sz="1600" kern="100" dirty="0" err="1">
                <a:solidFill>
                  <a:srgbClr val="00B0F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currentShop</a:t>
            </a:r>
            <a:r>
              <a:rPr lang="ru-UA" sz="1600" kern="100" dirty="0">
                <a:effectLst/>
                <a:latin typeface="Calibri (Основной текст)"/>
                <a:ea typeface="Aptos" panose="020B0004020202020204" pitchFamily="34" charset="0"/>
              </a:rPr>
              <a:t>) – </a:t>
            </a:r>
            <a:r>
              <a:rPr lang="ru-UA" sz="1600" kern="100" dirty="0" err="1">
                <a:effectLst/>
                <a:latin typeface="Calibri (Основной текст)"/>
                <a:ea typeface="Aptos" panose="020B0004020202020204" pitchFamily="34" charset="0"/>
              </a:rPr>
              <a:t>показує</a:t>
            </a:r>
            <a:r>
              <a:rPr lang="ru-UA" sz="1600" kern="100" dirty="0">
                <a:effectLst/>
                <a:latin typeface="Calibri (Основной текст)"/>
                <a:ea typeface="Aptos" panose="020B0004020202020204" pitchFamily="34" charset="0"/>
              </a:rPr>
              <a:t> </a:t>
            </a:r>
            <a:r>
              <a:rPr lang="ru-UA" sz="1600" kern="100" dirty="0" err="1">
                <a:effectLst/>
                <a:latin typeface="Calibri (Основной текст)"/>
                <a:ea typeface="Aptos" panose="020B0004020202020204" pitchFamily="34" charset="0"/>
              </a:rPr>
              <a:t>історію</a:t>
            </a:r>
            <a:r>
              <a:rPr lang="ru-UA" sz="1600" kern="100" dirty="0">
                <a:effectLst/>
                <a:latin typeface="Calibri (Основной текст)"/>
                <a:ea typeface="Aptos" panose="020B0004020202020204" pitchFamily="34" charset="0"/>
              </a:rPr>
              <a:t> покупок магазину.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uk-UA" sz="1400" kern="100" dirty="0">
              <a:effectLst/>
              <a:latin typeface="Calibri (Основной текст)"/>
              <a:ea typeface="Aptos" panose="020B0004020202020204" pitchFamily="34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9025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FF824-285D-A316-1A9D-86435DD2E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67F098-118F-D186-FADE-DFCB544E4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Файл </a:t>
            </a:r>
            <a:r>
              <a:rPr lang="en-US" dirty="0" err="1"/>
              <a:t>Shop.cs</a:t>
            </a:r>
            <a:endParaRPr lang="ru-UA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F48E60-3C2C-0FF1-E3F7-92A1442FFA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UA" sz="1400" b="1" kern="100" dirty="0">
                <a:effectLst/>
                <a:latin typeface="Calibri (Основной текст)"/>
                <a:ea typeface="Aptos" panose="020B0004020202020204" pitchFamily="34" charset="0"/>
              </a:rPr>
              <a:t>Поля</a:t>
            </a:r>
            <a:r>
              <a:rPr lang="ru-UA" sz="1400" kern="100" dirty="0">
                <a:effectLst/>
                <a:latin typeface="Calibri (Основной текст)"/>
                <a:ea typeface="Aptos" panose="020B0004020202020204" pitchFamily="34" charset="0"/>
              </a:rPr>
              <a:t>: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UA" sz="1400" kern="100" dirty="0" err="1">
                <a:solidFill>
                  <a:srgbClr val="0070C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private</a:t>
            </a:r>
            <a:r>
              <a:rPr lang="ru-UA" sz="1400" kern="100" dirty="0">
                <a:solidFill>
                  <a:srgbClr val="0070C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 </a:t>
            </a:r>
            <a:r>
              <a:rPr lang="ru-UA" sz="1400" kern="100" dirty="0" err="1">
                <a:solidFill>
                  <a:srgbClr val="0070C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string</a:t>
            </a:r>
            <a:r>
              <a:rPr lang="ru-UA" sz="1400" kern="100" dirty="0">
                <a:solidFill>
                  <a:srgbClr val="0070C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 </a:t>
            </a:r>
            <a:r>
              <a:rPr lang="ru-UA" sz="1400" kern="100" dirty="0" err="1">
                <a:effectLst/>
                <a:latin typeface="Calibri (Основной текст)"/>
                <a:ea typeface="Aptos" panose="020B0004020202020204" pitchFamily="34" charset="0"/>
              </a:rPr>
              <a:t>address</a:t>
            </a:r>
            <a:r>
              <a:rPr lang="ru-UA" sz="1400" kern="100" dirty="0">
                <a:effectLst/>
                <a:latin typeface="Calibri (Основной текст)"/>
                <a:ea typeface="Aptos" panose="020B0004020202020204" pitchFamily="34" charset="0"/>
              </a:rPr>
              <a:t> – адреса магазину. 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UA" sz="1400" kern="100" dirty="0" err="1">
                <a:solidFill>
                  <a:srgbClr val="0070C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private</a:t>
            </a:r>
            <a:r>
              <a:rPr lang="ru-UA" sz="1400" kern="100" dirty="0">
                <a:solidFill>
                  <a:srgbClr val="0070C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 </a:t>
            </a:r>
            <a:r>
              <a:rPr lang="ru-UA" sz="1400" kern="100" dirty="0" err="1">
                <a:solidFill>
                  <a:srgbClr val="0070C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int</a:t>
            </a:r>
            <a:r>
              <a:rPr lang="ru-UA" sz="1400" kern="100" dirty="0">
                <a:solidFill>
                  <a:srgbClr val="0070C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 </a:t>
            </a:r>
            <a:r>
              <a:rPr lang="ru-UA" sz="1400" kern="100" dirty="0" err="1">
                <a:effectLst/>
                <a:latin typeface="Calibri (Основной текст)"/>
                <a:ea typeface="Aptos" panose="020B0004020202020204" pitchFamily="34" charset="0"/>
              </a:rPr>
              <a:t>storageCa</a:t>
            </a:r>
            <a:r>
              <a:rPr lang="ru-RU" sz="1400" kern="100" dirty="0">
                <a:effectLst/>
                <a:latin typeface="Calibri (Основной текст)"/>
                <a:ea typeface="Aptos" panose="020B0004020202020204" pitchFamily="34" charset="0"/>
              </a:rPr>
              <a:t>Й</a:t>
            </a:r>
            <a:r>
              <a:rPr lang="ru-UA" sz="1400" kern="100" dirty="0" err="1">
                <a:effectLst/>
                <a:latin typeface="Calibri (Основной текст)"/>
                <a:ea typeface="Aptos" panose="020B0004020202020204" pitchFamily="34" charset="0"/>
              </a:rPr>
              <a:t>pacity</a:t>
            </a:r>
            <a:r>
              <a:rPr lang="ru-UA" sz="1400" kern="100" dirty="0">
                <a:effectLst/>
                <a:latin typeface="Calibri (Основной текст)"/>
                <a:ea typeface="Aptos" panose="020B0004020202020204" pitchFamily="34" charset="0"/>
              </a:rPr>
              <a:t> – максимальна </a:t>
            </a:r>
            <a:r>
              <a:rPr lang="ru-UA" sz="1400" kern="100" dirty="0" err="1">
                <a:effectLst/>
                <a:latin typeface="Calibri (Основной текст)"/>
                <a:ea typeface="Aptos" panose="020B0004020202020204" pitchFamily="34" charset="0"/>
              </a:rPr>
              <a:t>місткість</a:t>
            </a:r>
            <a:r>
              <a:rPr lang="ru-UA" sz="1400" kern="100" dirty="0">
                <a:effectLst/>
                <a:latin typeface="Calibri (Основной текст)"/>
                <a:ea typeface="Aptos" panose="020B0004020202020204" pitchFamily="34" charset="0"/>
              </a:rPr>
              <a:t> складу. 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UA" sz="1400" kern="100" dirty="0" err="1">
                <a:solidFill>
                  <a:srgbClr val="0070C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private</a:t>
            </a:r>
            <a:r>
              <a:rPr lang="ru-UA" sz="1400" kern="100" dirty="0">
                <a:solidFill>
                  <a:srgbClr val="0070C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 </a:t>
            </a:r>
            <a:r>
              <a:rPr lang="ru-UA" sz="1400" kern="100" dirty="0" err="1">
                <a:solidFill>
                  <a:srgbClr val="0070C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string</a:t>
            </a:r>
            <a:r>
              <a:rPr lang="ru-UA" sz="1400" kern="100" dirty="0">
                <a:solidFill>
                  <a:srgbClr val="0070C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 </a:t>
            </a:r>
            <a:r>
              <a:rPr lang="ru-UA" sz="1400" kern="100" dirty="0" err="1">
                <a:effectLst/>
                <a:latin typeface="Calibri (Основной текст)"/>
                <a:ea typeface="Aptos" panose="020B0004020202020204" pitchFamily="34" charset="0"/>
              </a:rPr>
              <a:t>managerName</a:t>
            </a:r>
            <a:r>
              <a:rPr lang="ru-UA" sz="1400" kern="100" dirty="0">
                <a:effectLst/>
                <a:latin typeface="Calibri (Основной текст)"/>
                <a:ea typeface="Aptos" panose="020B0004020202020204" pitchFamily="34" charset="0"/>
              </a:rPr>
              <a:t> – </a:t>
            </a:r>
            <a:r>
              <a:rPr lang="ru-UA" sz="1400" kern="100" dirty="0" err="1">
                <a:effectLst/>
                <a:latin typeface="Calibri (Основной текст)"/>
                <a:ea typeface="Aptos" panose="020B0004020202020204" pitchFamily="34" charset="0"/>
              </a:rPr>
              <a:t>ім’я</a:t>
            </a:r>
            <a:r>
              <a:rPr lang="ru-UA" sz="1400" kern="100" dirty="0">
                <a:effectLst/>
                <a:latin typeface="Calibri (Основной текст)"/>
                <a:ea typeface="Aptos" panose="020B0004020202020204" pitchFamily="34" charset="0"/>
              </a:rPr>
              <a:t> менеджера магазину. 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UA" sz="1400" kern="100" dirty="0" err="1">
                <a:solidFill>
                  <a:srgbClr val="0070C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public</a:t>
            </a:r>
            <a:r>
              <a:rPr lang="ru-UA" sz="1400" kern="100" dirty="0">
                <a:effectLst/>
                <a:latin typeface="Calibri (Основной текст)"/>
                <a:ea typeface="Aptos" panose="020B0004020202020204" pitchFamily="34" charset="0"/>
              </a:rPr>
              <a:t> </a:t>
            </a:r>
            <a:r>
              <a:rPr lang="ru-UA" sz="1400" kern="100" dirty="0">
                <a:solidFill>
                  <a:srgbClr val="00B05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List</a:t>
            </a:r>
            <a:r>
              <a:rPr lang="ru-UA" sz="1400" kern="100" dirty="0">
                <a:effectLst/>
                <a:latin typeface="Calibri (Основной текст)"/>
                <a:ea typeface="Aptos" panose="020B0004020202020204" pitchFamily="34" charset="0"/>
              </a:rPr>
              <a:t>&lt;</a:t>
            </a:r>
            <a:r>
              <a:rPr lang="ru-UA" sz="1400" kern="100" dirty="0" err="1">
                <a:solidFill>
                  <a:srgbClr val="00B05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Goods</a:t>
            </a:r>
            <a:r>
              <a:rPr lang="ru-UA" sz="1400" kern="100" dirty="0">
                <a:effectLst/>
                <a:latin typeface="Calibri (Основной текст)"/>
                <a:ea typeface="Aptos" panose="020B0004020202020204" pitchFamily="34" charset="0"/>
              </a:rPr>
              <a:t>&gt; </a:t>
            </a:r>
            <a:r>
              <a:rPr lang="ru-UA" sz="1400" kern="100" dirty="0" err="1">
                <a:effectLst/>
                <a:latin typeface="Calibri (Основной текст)"/>
                <a:ea typeface="Aptos" panose="020B0004020202020204" pitchFamily="34" charset="0"/>
              </a:rPr>
              <a:t>GoodsList</a:t>
            </a:r>
            <a:r>
              <a:rPr lang="ru-UA" sz="1400" kern="100" dirty="0">
                <a:effectLst/>
                <a:latin typeface="Calibri (Основной текст)"/>
                <a:ea typeface="Aptos" panose="020B0004020202020204" pitchFamily="34" charset="0"/>
              </a:rPr>
              <a:t> { </a:t>
            </a:r>
            <a:r>
              <a:rPr lang="ru-UA" sz="1400" kern="100" dirty="0" err="1">
                <a:effectLst/>
                <a:latin typeface="Calibri (Основной текст)"/>
                <a:ea typeface="Aptos" panose="020B0004020202020204" pitchFamily="34" charset="0"/>
              </a:rPr>
              <a:t>get</a:t>
            </a:r>
            <a:r>
              <a:rPr lang="ru-UA" sz="1400" kern="100" dirty="0">
                <a:effectLst/>
                <a:latin typeface="Calibri (Основной текст)"/>
                <a:ea typeface="Aptos" panose="020B0004020202020204" pitchFamily="34" charset="0"/>
              </a:rPr>
              <a:t>; </a:t>
            </a:r>
            <a:r>
              <a:rPr lang="ru-UA" sz="1400" kern="100" dirty="0" err="1">
                <a:effectLst/>
                <a:latin typeface="Calibri (Основной текст)"/>
                <a:ea typeface="Aptos" panose="020B0004020202020204" pitchFamily="34" charset="0"/>
              </a:rPr>
              <a:t>set</a:t>
            </a:r>
            <a:r>
              <a:rPr lang="ru-UA" sz="1400" kern="100" dirty="0">
                <a:effectLst/>
                <a:latin typeface="Calibri (Основной текст)"/>
                <a:ea typeface="Aptos" panose="020B0004020202020204" pitchFamily="34" charset="0"/>
              </a:rPr>
              <a:t>; } – список </a:t>
            </a:r>
            <a:r>
              <a:rPr lang="ru-UA" sz="1400" kern="100" dirty="0" err="1">
                <a:effectLst/>
                <a:latin typeface="Calibri (Основной текст)"/>
                <a:ea typeface="Aptos" panose="020B0004020202020204" pitchFamily="34" charset="0"/>
              </a:rPr>
              <a:t>товарів</a:t>
            </a:r>
            <a:r>
              <a:rPr lang="ru-UA" sz="1400" kern="100" dirty="0">
                <a:effectLst/>
                <a:latin typeface="Calibri (Основной текст)"/>
                <a:ea typeface="Aptos" panose="020B0004020202020204" pitchFamily="34" charset="0"/>
              </a:rPr>
              <a:t> магазину. 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UA" sz="1400" kern="100" dirty="0" err="1">
                <a:solidFill>
                  <a:srgbClr val="0070C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public</a:t>
            </a:r>
            <a:r>
              <a:rPr lang="ru-UA" sz="1400" kern="100" dirty="0">
                <a:effectLst/>
                <a:latin typeface="Calibri (Основной текст)"/>
                <a:ea typeface="Aptos" panose="020B0004020202020204" pitchFamily="34" charset="0"/>
              </a:rPr>
              <a:t> </a:t>
            </a:r>
            <a:r>
              <a:rPr lang="ru-UA" sz="1400" kern="100" dirty="0">
                <a:solidFill>
                  <a:srgbClr val="00B05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List</a:t>
            </a:r>
            <a:r>
              <a:rPr lang="ru-UA" sz="1400" kern="100" dirty="0">
                <a:effectLst/>
                <a:latin typeface="Calibri (Основной текст)"/>
                <a:ea typeface="Aptos" panose="020B0004020202020204" pitchFamily="34" charset="0"/>
              </a:rPr>
              <a:t>&lt;</a:t>
            </a:r>
            <a:r>
              <a:rPr lang="ru-UA" sz="1400" kern="100" dirty="0" err="1">
                <a:solidFill>
                  <a:srgbClr val="00B05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Purchase</a:t>
            </a:r>
            <a:r>
              <a:rPr lang="ru-UA" sz="1400" kern="100" dirty="0">
                <a:effectLst/>
                <a:latin typeface="Calibri (Основной текст)"/>
                <a:ea typeface="Aptos" panose="020B0004020202020204" pitchFamily="34" charset="0"/>
              </a:rPr>
              <a:t>&gt; </a:t>
            </a:r>
            <a:r>
              <a:rPr lang="ru-UA" sz="1400" kern="100" dirty="0" err="1">
                <a:effectLst/>
                <a:latin typeface="Calibri (Основной текст)"/>
                <a:ea typeface="Aptos" panose="020B0004020202020204" pitchFamily="34" charset="0"/>
              </a:rPr>
              <a:t>History</a:t>
            </a:r>
            <a:r>
              <a:rPr lang="ru-UA" sz="1400" kern="100" dirty="0">
                <a:effectLst/>
                <a:latin typeface="Calibri (Основной текст)"/>
                <a:ea typeface="Aptos" panose="020B0004020202020204" pitchFamily="34" charset="0"/>
              </a:rPr>
              <a:t> { </a:t>
            </a:r>
            <a:r>
              <a:rPr lang="ru-UA" sz="1400" kern="100" dirty="0" err="1">
                <a:effectLst/>
                <a:latin typeface="Calibri (Основной текст)"/>
                <a:ea typeface="Aptos" panose="020B0004020202020204" pitchFamily="34" charset="0"/>
              </a:rPr>
              <a:t>get</a:t>
            </a:r>
            <a:r>
              <a:rPr lang="ru-UA" sz="1400" kern="100" dirty="0">
                <a:effectLst/>
                <a:latin typeface="Calibri (Основной текст)"/>
                <a:ea typeface="Aptos" panose="020B0004020202020204" pitchFamily="34" charset="0"/>
              </a:rPr>
              <a:t>; </a:t>
            </a:r>
            <a:r>
              <a:rPr lang="ru-UA" sz="1400" kern="100" dirty="0" err="1">
                <a:effectLst/>
                <a:latin typeface="Calibri (Основной текст)"/>
                <a:ea typeface="Aptos" panose="020B0004020202020204" pitchFamily="34" charset="0"/>
              </a:rPr>
              <a:t>set</a:t>
            </a:r>
            <a:r>
              <a:rPr lang="ru-UA" sz="1400" kern="100" dirty="0">
                <a:effectLst/>
                <a:latin typeface="Calibri (Основной текст)"/>
                <a:ea typeface="Aptos" panose="020B0004020202020204" pitchFamily="34" charset="0"/>
              </a:rPr>
              <a:t>; } – </a:t>
            </a:r>
            <a:r>
              <a:rPr lang="ru-UA" sz="1400" kern="100" dirty="0" err="1">
                <a:effectLst/>
                <a:latin typeface="Calibri (Основной текст)"/>
                <a:ea typeface="Aptos" panose="020B0004020202020204" pitchFamily="34" charset="0"/>
              </a:rPr>
              <a:t>історія</a:t>
            </a:r>
            <a:r>
              <a:rPr lang="ru-UA" sz="1400" kern="100" dirty="0">
                <a:effectLst/>
                <a:latin typeface="Calibri (Основной текст)"/>
                <a:ea typeface="Aptos" panose="020B0004020202020204" pitchFamily="34" charset="0"/>
              </a:rPr>
              <a:t> покупок.</a:t>
            </a:r>
            <a:endParaRPr lang="ru-RU" sz="1400" kern="100" dirty="0">
              <a:effectLst/>
              <a:latin typeface="Calibri (Основной текст)"/>
              <a:ea typeface="Aptos" panose="020B0004020202020204" pitchFamily="34" charset="0"/>
            </a:endParaRP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UA" sz="1400" kern="100" dirty="0">
                <a:effectLst/>
                <a:latin typeface="Calibri (Основной текст)"/>
                <a:ea typeface="Aptos" panose="020B0004020202020204" pitchFamily="34" charset="0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UA" sz="1400" b="1" kern="100" dirty="0" err="1">
                <a:effectLst/>
                <a:latin typeface="Calibri (Основной текст)"/>
                <a:ea typeface="Aptos" panose="020B0004020202020204" pitchFamily="34" charset="0"/>
              </a:rPr>
              <a:t>Конструктори</a:t>
            </a:r>
            <a:r>
              <a:rPr lang="ru-UA" sz="1400" kern="100" dirty="0">
                <a:effectLst/>
                <a:latin typeface="Calibri (Основной текст)"/>
                <a:ea typeface="Aptos" panose="020B0004020202020204" pitchFamily="34" charset="0"/>
              </a:rPr>
              <a:t>: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UA" sz="1400" kern="100" dirty="0">
                <a:solidFill>
                  <a:srgbClr val="00B05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Shop</a:t>
            </a:r>
            <a:r>
              <a:rPr lang="ru-UA" sz="1400" kern="100" dirty="0">
                <a:effectLst/>
                <a:latin typeface="Calibri (Основной текст)"/>
                <a:ea typeface="Aptos" panose="020B0004020202020204" pitchFamily="34" charset="0"/>
              </a:rPr>
              <a:t>() – конструктор за </a:t>
            </a:r>
            <a:r>
              <a:rPr lang="ru-UA" sz="1400" kern="100" dirty="0" err="1">
                <a:effectLst/>
                <a:latin typeface="Calibri (Основной текст)"/>
                <a:ea typeface="Aptos" panose="020B0004020202020204" pitchFamily="34" charset="0"/>
              </a:rPr>
              <a:t>замовчуванням</a:t>
            </a:r>
            <a:r>
              <a:rPr lang="ru-UA" sz="1400" kern="100" dirty="0">
                <a:effectLst/>
                <a:latin typeface="Calibri (Основной текст)"/>
                <a:ea typeface="Aptos" panose="020B0004020202020204" pitchFamily="34" charset="0"/>
              </a:rPr>
              <a:t>. 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UA" sz="1400" kern="100" dirty="0">
                <a:solidFill>
                  <a:srgbClr val="00B05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Shop</a:t>
            </a:r>
            <a:r>
              <a:rPr lang="ru-UA" sz="1400" kern="100" dirty="0">
                <a:effectLst/>
                <a:latin typeface="Calibri (Основной текст)"/>
                <a:ea typeface="Aptos" panose="020B0004020202020204" pitchFamily="34" charset="0"/>
              </a:rPr>
              <a:t>(</a:t>
            </a:r>
            <a:r>
              <a:rPr lang="ru-UA" sz="1400" kern="100" dirty="0" err="1">
                <a:solidFill>
                  <a:srgbClr val="0070C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string</a:t>
            </a:r>
            <a:r>
              <a:rPr lang="ru-UA" sz="1400" kern="100" dirty="0">
                <a:effectLst/>
                <a:latin typeface="Calibri (Основной текст)"/>
                <a:ea typeface="Aptos" panose="020B0004020202020204" pitchFamily="34" charset="0"/>
              </a:rPr>
              <a:t> </a:t>
            </a:r>
            <a:r>
              <a:rPr lang="ru-UA" sz="1400" kern="100" dirty="0" err="1">
                <a:effectLst/>
                <a:latin typeface="Calibri (Основной текст)"/>
                <a:ea typeface="Aptos" panose="020B0004020202020204" pitchFamily="34" charset="0"/>
              </a:rPr>
              <a:t>address</a:t>
            </a:r>
            <a:r>
              <a:rPr lang="ru-UA" sz="1400" kern="100" dirty="0">
                <a:effectLst/>
                <a:latin typeface="Calibri (Основной текст)"/>
                <a:ea typeface="Aptos" panose="020B0004020202020204" pitchFamily="34" charset="0"/>
              </a:rPr>
              <a:t>, </a:t>
            </a:r>
            <a:r>
              <a:rPr lang="ru-UA" sz="1400" kern="100" dirty="0" err="1">
                <a:solidFill>
                  <a:srgbClr val="0070C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int</a:t>
            </a:r>
            <a:r>
              <a:rPr lang="ru-UA" sz="1400" kern="100" dirty="0">
                <a:effectLst/>
                <a:latin typeface="Calibri (Основной текст)"/>
                <a:ea typeface="Aptos" panose="020B0004020202020204" pitchFamily="34" charset="0"/>
              </a:rPr>
              <a:t> </a:t>
            </a:r>
            <a:r>
              <a:rPr lang="ru-UA" sz="1400" kern="100" dirty="0" err="1">
                <a:effectLst/>
                <a:latin typeface="Calibri (Основной текст)"/>
                <a:ea typeface="Aptos" panose="020B0004020202020204" pitchFamily="34" charset="0"/>
              </a:rPr>
              <a:t>storageCapacity</a:t>
            </a:r>
            <a:r>
              <a:rPr lang="ru-UA" sz="1400" kern="100" dirty="0">
                <a:effectLst/>
                <a:latin typeface="Calibri (Основной текст)"/>
                <a:ea typeface="Aptos" panose="020B0004020202020204" pitchFamily="34" charset="0"/>
              </a:rPr>
              <a:t>, </a:t>
            </a:r>
            <a:r>
              <a:rPr lang="ru-UA" sz="1400" kern="100" dirty="0" err="1">
                <a:solidFill>
                  <a:srgbClr val="0070C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string</a:t>
            </a:r>
            <a:r>
              <a:rPr lang="ru-UA" sz="1400" kern="100" dirty="0">
                <a:effectLst/>
                <a:latin typeface="Calibri (Основной текст)"/>
                <a:ea typeface="Aptos" panose="020B0004020202020204" pitchFamily="34" charset="0"/>
              </a:rPr>
              <a:t> </a:t>
            </a:r>
            <a:r>
              <a:rPr lang="ru-UA" sz="1400" kern="100" dirty="0" err="1">
                <a:effectLst/>
                <a:latin typeface="Calibri (Основной текст)"/>
                <a:ea typeface="Aptos" panose="020B0004020202020204" pitchFamily="34" charset="0"/>
              </a:rPr>
              <a:t>managerName</a:t>
            </a:r>
            <a:r>
              <a:rPr lang="ru-UA" sz="1400" kern="100" dirty="0">
                <a:effectLst/>
                <a:latin typeface="Calibri (Основной текст)"/>
                <a:ea typeface="Aptos" panose="020B0004020202020204" pitchFamily="34" charset="0"/>
              </a:rPr>
              <a:t>) – конструктор з параметрами</a:t>
            </a:r>
            <a:r>
              <a:rPr lang="ru-RU" sz="1400" kern="100" dirty="0">
                <a:latin typeface="Calibri (Основной текст)"/>
                <a:ea typeface="Aptos" panose="020B0004020202020204" pitchFamily="34" charset="0"/>
              </a:rPr>
              <a:t>.</a:t>
            </a:r>
            <a:endParaRPr lang="ru-RU" sz="1400" kern="100" dirty="0">
              <a:effectLst/>
              <a:latin typeface="Calibri (Основной текст)"/>
              <a:ea typeface="Aptos" panose="020B0004020202020204" pitchFamily="34" charset="0"/>
            </a:endParaRP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endParaRPr lang="ru-UA" sz="1400" kern="100" dirty="0">
              <a:effectLst/>
              <a:latin typeface="Calibri (Основной текст)"/>
              <a:ea typeface="Aptos" panose="020B0004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UA" sz="1400" b="1" kern="100" dirty="0" err="1">
                <a:effectLst/>
                <a:latin typeface="Calibri (Основной текст)"/>
                <a:ea typeface="Aptos" panose="020B0004020202020204" pitchFamily="34" charset="0"/>
              </a:rPr>
              <a:t>Методи</a:t>
            </a:r>
            <a:r>
              <a:rPr lang="ru-UA" sz="1400" kern="100" dirty="0">
                <a:effectLst/>
                <a:latin typeface="Calibri (Основной текст)"/>
                <a:ea typeface="Aptos" panose="020B0004020202020204" pitchFamily="34" charset="0"/>
              </a:rPr>
              <a:t>: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UA" sz="1400" kern="100" dirty="0" err="1">
                <a:solidFill>
                  <a:srgbClr val="0070C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bool</a:t>
            </a:r>
            <a:r>
              <a:rPr lang="ru-UA" sz="1400" kern="100" dirty="0">
                <a:effectLst/>
                <a:latin typeface="Calibri (Основной текст)"/>
                <a:ea typeface="Aptos" panose="020B0004020202020204" pitchFamily="34" charset="0"/>
              </a:rPr>
              <a:t> </a:t>
            </a:r>
            <a:r>
              <a:rPr lang="ru-UA" sz="1400" kern="100" dirty="0" err="1">
                <a:solidFill>
                  <a:srgbClr val="CC990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HasGoods</a:t>
            </a:r>
            <a:r>
              <a:rPr lang="ru-UA" sz="1400" kern="100" dirty="0">
                <a:effectLst/>
                <a:latin typeface="Calibri (Основной текст)"/>
                <a:ea typeface="Aptos" panose="020B0004020202020204" pitchFamily="34" charset="0"/>
              </a:rPr>
              <a:t>() – </a:t>
            </a:r>
            <a:r>
              <a:rPr lang="ru-UA" sz="1400" kern="100" dirty="0" err="1">
                <a:effectLst/>
                <a:latin typeface="Calibri (Основной текст)"/>
                <a:ea typeface="Aptos" panose="020B0004020202020204" pitchFamily="34" charset="0"/>
              </a:rPr>
              <a:t>перевіряє</a:t>
            </a:r>
            <a:r>
              <a:rPr lang="ru-UA" sz="1400" kern="100" dirty="0">
                <a:effectLst/>
                <a:latin typeface="Calibri (Основной текст)"/>
                <a:ea typeface="Aptos" panose="020B0004020202020204" pitchFamily="34" charset="0"/>
              </a:rPr>
              <a:t>, </a:t>
            </a:r>
            <a:r>
              <a:rPr lang="ru-UA" sz="1400" kern="100" dirty="0" err="1">
                <a:effectLst/>
                <a:latin typeface="Calibri (Основной текст)"/>
                <a:ea typeface="Aptos" panose="020B0004020202020204" pitchFamily="34" charset="0"/>
              </a:rPr>
              <a:t>чи</a:t>
            </a:r>
            <a:r>
              <a:rPr lang="ru-UA" sz="1400" kern="100" dirty="0">
                <a:effectLst/>
                <a:latin typeface="Calibri (Основной текст)"/>
                <a:ea typeface="Aptos" panose="020B0004020202020204" pitchFamily="34" charset="0"/>
              </a:rPr>
              <a:t> є </a:t>
            </a:r>
            <a:r>
              <a:rPr lang="ru-UA" sz="1400" kern="100" dirty="0" err="1">
                <a:effectLst/>
                <a:latin typeface="Calibri (Основной текст)"/>
                <a:ea typeface="Aptos" panose="020B0004020202020204" pitchFamily="34" charset="0"/>
              </a:rPr>
              <a:t>товари</a:t>
            </a:r>
            <a:r>
              <a:rPr lang="ru-UA" sz="1400" kern="100" dirty="0">
                <a:effectLst/>
                <a:latin typeface="Calibri (Основной текст)"/>
                <a:ea typeface="Aptos" panose="020B0004020202020204" pitchFamily="34" charset="0"/>
              </a:rPr>
              <a:t> в </a:t>
            </a:r>
            <a:r>
              <a:rPr lang="ru-UA" sz="1400" kern="100" dirty="0" err="1">
                <a:effectLst/>
                <a:latin typeface="Calibri (Основной текст)"/>
                <a:ea typeface="Aptos" panose="020B0004020202020204" pitchFamily="34" charset="0"/>
              </a:rPr>
              <a:t>магазині</a:t>
            </a:r>
            <a:r>
              <a:rPr lang="ru-UA" sz="1400" kern="100" dirty="0">
                <a:effectLst/>
                <a:latin typeface="Calibri (Основной текст)"/>
                <a:ea typeface="Aptos" panose="020B0004020202020204" pitchFamily="34" charset="0"/>
              </a:rPr>
              <a:t>. 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UA" sz="1400" kern="100" dirty="0" err="1">
                <a:solidFill>
                  <a:srgbClr val="0070C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void</a:t>
            </a:r>
            <a:r>
              <a:rPr lang="ru-UA" sz="1400" kern="100" dirty="0">
                <a:effectLst/>
                <a:latin typeface="Calibri (Основной текст)"/>
                <a:ea typeface="Aptos" panose="020B0004020202020204" pitchFamily="34" charset="0"/>
              </a:rPr>
              <a:t> </a:t>
            </a:r>
            <a:r>
              <a:rPr lang="ru-UA" sz="1400" kern="100" dirty="0" err="1">
                <a:solidFill>
                  <a:srgbClr val="CC990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PrintGoods</a:t>
            </a:r>
            <a:r>
              <a:rPr lang="ru-UA" sz="1400" kern="100" dirty="0">
                <a:effectLst/>
                <a:latin typeface="Calibri (Основной текст)"/>
                <a:ea typeface="Aptos" panose="020B0004020202020204" pitchFamily="34" charset="0"/>
              </a:rPr>
              <a:t>() – </a:t>
            </a:r>
            <a:r>
              <a:rPr lang="ru-UA" sz="1400" kern="100" dirty="0" err="1">
                <a:effectLst/>
                <a:latin typeface="Calibri (Основной текст)"/>
                <a:ea typeface="Aptos" panose="020B0004020202020204" pitchFamily="34" charset="0"/>
              </a:rPr>
              <a:t>виводить</a:t>
            </a:r>
            <a:r>
              <a:rPr lang="ru-UA" sz="1400" kern="100" dirty="0">
                <a:effectLst/>
                <a:latin typeface="Calibri (Основной текст)"/>
                <a:ea typeface="Aptos" panose="020B0004020202020204" pitchFamily="34" charset="0"/>
              </a:rPr>
              <a:t> список </a:t>
            </a:r>
            <a:r>
              <a:rPr lang="ru-UA" sz="1400" kern="100" dirty="0" err="1">
                <a:effectLst/>
                <a:latin typeface="Calibri (Основной текст)"/>
                <a:ea typeface="Aptos" panose="020B0004020202020204" pitchFamily="34" charset="0"/>
              </a:rPr>
              <a:t>товарів</a:t>
            </a:r>
            <a:r>
              <a:rPr lang="ru-UA" sz="1400" kern="100" dirty="0">
                <a:effectLst/>
                <a:latin typeface="Calibri (Основной текст)"/>
                <a:ea typeface="Aptos" panose="020B0004020202020204" pitchFamily="34" charset="0"/>
              </a:rPr>
              <a:t> магазину. 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UA" sz="1400" kern="100" dirty="0" err="1">
                <a:solidFill>
                  <a:srgbClr val="0070C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void</a:t>
            </a:r>
            <a:r>
              <a:rPr lang="ru-UA" sz="1400" kern="100" dirty="0">
                <a:effectLst/>
                <a:latin typeface="Calibri (Основной текст)"/>
                <a:ea typeface="Aptos" panose="020B0004020202020204" pitchFamily="34" charset="0"/>
              </a:rPr>
              <a:t> </a:t>
            </a:r>
            <a:r>
              <a:rPr lang="ru-UA" sz="1400" kern="100" dirty="0" err="1">
                <a:solidFill>
                  <a:srgbClr val="CC990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AddPurchase</a:t>
            </a:r>
            <a:r>
              <a:rPr lang="ru-UA" sz="1400" kern="100" dirty="0">
                <a:effectLst/>
                <a:latin typeface="Calibri (Основной текст)"/>
                <a:ea typeface="Aptos" panose="020B0004020202020204" pitchFamily="34" charset="0"/>
              </a:rPr>
              <a:t>(</a:t>
            </a:r>
            <a:r>
              <a:rPr lang="ru-UA" sz="1400" kern="100" dirty="0">
                <a:solidFill>
                  <a:srgbClr val="00B05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Customer</a:t>
            </a:r>
            <a:r>
              <a:rPr lang="ru-UA" sz="1400" kern="100" dirty="0">
                <a:effectLst/>
                <a:latin typeface="Calibri (Основной текст)"/>
                <a:ea typeface="Aptos" panose="020B0004020202020204" pitchFamily="34" charset="0"/>
              </a:rPr>
              <a:t> </a:t>
            </a:r>
            <a:r>
              <a:rPr lang="ru-UA" sz="1400" kern="100" dirty="0" err="1">
                <a:solidFill>
                  <a:srgbClr val="00B0F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buyer</a:t>
            </a:r>
            <a:r>
              <a:rPr lang="ru-UA" sz="1400" kern="100" dirty="0">
                <a:effectLst/>
                <a:latin typeface="Calibri (Основной текст)"/>
                <a:ea typeface="Aptos" panose="020B0004020202020204" pitchFamily="34" charset="0"/>
              </a:rPr>
              <a:t>, </a:t>
            </a:r>
            <a:r>
              <a:rPr lang="ru-UA" sz="1400" kern="100" dirty="0" err="1">
                <a:solidFill>
                  <a:srgbClr val="00B05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Goods</a:t>
            </a:r>
            <a:r>
              <a:rPr lang="ru-UA" sz="1400" kern="100" dirty="0">
                <a:effectLst/>
                <a:latin typeface="Calibri (Основной текст)"/>
                <a:ea typeface="Aptos" panose="020B0004020202020204" pitchFamily="34" charset="0"/>
              </a:rPr>
              <a:t> </a:t>
            </a:r>
            <a:r>
              <a:rPr lang="ru-UA" sz="1400" kern="100" dirty="0" err="1">
                <a:solidFill>
                  <a:srgbClr val="00B0F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product</a:t>
            </a:r>
            <a:r>
              <a:rPr lang="ru-UA" sz="1400" kern="100" dirty="0">
                <a:effectLst/>
                <a:latin typeface="Calibri (Основной текст)"/>
                <a:ea typeface="Aptos" panose="020B0004020202020204" pitchFamily="34" charset="0"/>
              </a:rPr>
              <a:t>, </a:t>
            </a:r>
            <a:r>
              <a:rPr lang="ru-UA" sz="1400" kern="100" dirty="0" err="1">
                <a:solidFill>
                  <a:srgbClr val="0070C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int</a:t>
            </a:r>
            <a:r>
              <a:rPr lang="ru-UA" sz="1400" kern="100" dirty="0">
                <a:effectLst/>
                <a:latin typeface="Calibri (Основной текст)"/>
                <a:ea typeface="Aptos" panose="020B0004020202020204" pitchFamily="34" charset="0"/>
              </a:rPr>
              <a:t> </a:t>
            </a:r>
            <a:r>
              <a:rPr lang="ru-UA" sz="1400" kern="100" dirty="0" err="1">
                <a:solidFill>
                  <a:srgbClr val="00B0F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price</a:t>
            </a:r>
            <a:r>
              <a:rPr lang="ru-UA" sz="1400" kern="100" dirty="0">
                <a:effectLst/>
                <a:latin typeface="Calibri (Основной текст)"/>
                <a:ea typeface="Aptos" panose="020B0004020202020204" pitchFamily="34" charset="0"/>
              </a:rPr>
              <a:t>) – </a:t>
            </a:r>
            <a:r>
              <a:rPr lang="ru-UA" sz="1400" kern="100" dirty="0" err="1">
                <a:effectLst/>
                <a:latin typeface="Calibri (Основной текст)"/>
                <a:ea typeface="Aptos" panose="020B0004020202020204" pitchFamily="34" charset="0"/>
              </a:rPr>
              <a:t>додає</a:t>
            </a:r>
            <a:r>
              <a:rPr lang="ru-UA" sz="1400" kern="100" dirty="0">
                <a:effectLst/>
                <a:latin typeface="Calibri (Основной текст)"/>
                <a:ea typeface="Aptos" panose="020B0004020202020204" pitchFamily="34" charset="0"/>
              </a:rPr>
              <a:t> покупку в </a:t>
            </a:r>
            <a:r>
              <a:rPr lang="ru-UA" sz="1400" kern="100" dirty="0" err="1">
                <a:effectLst/>
                <a:latin typeface="Calibri (Основной текст)"/>
                <a:ea typeface="Aptos" panose="020B0004020202020204" pitchFamily="34" charset="0"/>
              </a:rPr>
              <a:t>історію</a:t>
            </a:r>
            <a:r>
              <a:rPr lang="ru-UA" sz="1400" kern="100" dirty="0">
                <a:effectLst/>
                <a:latin typeface="Calibri (Основной текст)"/>
                <a:ea typeface="Aptos" panose="020B0004020202020204" pitchFamily="34" charset="0"/>
              </a:rPr>
              <a:t> покупок. 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UA" sz="1400" kern="100" dirty="0" err="1">
                <a:solidFill>
                  <a:srgbClr val="0070C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bool</a:t>
            </a:r>
            <a:r>
              <a:rPr lang="ru-UA" sz="1400" kern="100" dirty="0">
                <a:effectLst/>
                <a:latin typeface="Calibri (Основной текст)"/>
                <a:ea typeface="Aptos" panose="020B0004020202020204" pitchFamily="34" charset="0"/>
              </a:rPr>
              <a:t> </a:t>
            </a:r>
            <a:r>
              <a:rPr lang="ru-UA" sz="1400" kern="100" dirty="0" err="1">
                <a:solidFill>
                  <a:srgbClr val="CC990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CheckManagerName</a:t>
            </a:r>
            <a:r>
              <a:rPr lang="ru-UA" sz="1400" kern="100" dirty="0">
                <a:effectLst/>
                <a:latin typeface="Calibri (Основной текст)"/>
                <a:ea typeface="Aptos" panose="020B0004020202020204" pitchFamily="34" charset="0"/>
              </a:rPr>
              <a:t>(</a:t>
            </a:r>
            <a:r>
              <a:rPr lang="ru-UA" sz="1400" kern="100" dirty="0" err="1">
                <a:solidFill>
                  <a:srgbClr val="0070C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string</a:t>
            </a:r>
            <a:r>
              <a:rPr lang="ru-UA" sz="1400" kern="100" dirty="0">
                <a:effectLst/>
                <a:latin typeface="Calibri (Основной текст)"/>
                <a:ea typeface="Aptos" panose="020B0004020202020204" pitchFamily="34" charset="0"/>
              </a:rPr>
              <a:t> </a:t>
            </a:r>
            <a:r>
              <a:rPr lang="ru-UA" sz="1400" kern="100" dirty="0" err="1">
                <a:solidFill>
                  <a:srgbClr val="00B0F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name</a:t>
            </a:r>
            <a:r>
              <a:rPr lang="ru-UA" sz="1400" kern="100" dirty="0">
                <a:effectLst/>
                <a:latin typeface="Calibri (Основной текст)"/>
                <a:ea typeface="Aptos" panose="020B0004020202020204" pitchFamily="34" charset="0"/>
              </a:rPr>
              <a:t>) – </a:t>
            </a:r>
            <a:r>
              <a:rPr lang="ru-UA" sz="1400" kern="100" dirty="0" err="1">
                <a:effectLst/>
                <a:latin typeface="Calibri (Основной текст)"/>
                <a:ea typeface="Aptos" panose="020B0004020202020204" pitchFamily="34" charset="0"/>
              </a:rPr>
              <a:t>перевіряє</a:t>
            </a:r>
            <a:r>
              <a:rPr lang="ru-UA" sz="1400" kern="100" dirty="0">
                <a:effectLst/>
                <a:latin typeface="Calibri (Основной текст)"/>
                <a:ea typeface="Aptos" panose="020B0004020202020204" pitchFamily="34" charset="0"/>
              </a:rPr>
              <a:t> </a:t>
            </a:r>
            <a:r>
              <a:rPr lang="ru-UA" sz="1400" kern="100" dirty="0" err="1">
                <a:effectLst/>
                <a:latin typeface="Calibri (Основной текст)"/>
                <a:ea typeface="Aptos" panose="020B0004020202020204" pitchFamily="34" charset="0"/>
              </a:rPr>
              <a:t>ім’я</a:t>
            </a:r>
            <a:r>
              <a:rPr lang="ru-UA" sz="1400" kern="100" dirty="0">
                <a:effectLst/>
                <a:latin typeface="Calibri (Основной текст)"/>
                <a:ea typeface="Aptos" panose="020B0004020202020204" pitchFamily="34" charset="0"/>
              </a:rPr>
              <a:t> менеджера. 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UA" sz="1400" kern="100" dirty="0" err="1">
                <a:solidFill>
                  <a:srgbClr val="0070C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void</a:t>
            </a:r>
            <a:r>
              <a:rPr lang="ru-UA" sz="1400" kern="100" dirty="0">
                <a:effectLst/>
                <a:latin typeface="Calibri (Основной текст)"/>
                <a:ea typeface="Aptos" panose="020B0004020202020204" pitchFamily="34" charset="0"/>
              </a:rPr>
              <a:t> </a:t>
            </a:r>
            <a:r>
              <a:rPr lang="ru-UA" sz="1400" kern="100" dirty="0" err="1">
                <a:solidFill>
                  <a:srgbClr val="CC990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PrintHistory</a:t>
            </a:r>
            <a:r>
              <a:rPr lang="ru-UA" sz="1400" kern="100" dirty="0">
                <a:effectLst/>
                <a:latin typeface="Calibri (Основной текст)"/>
                <a:ea typeface="Aptos" panose="020B0004020202020204" pitchFamily="34" charset="0"/>
              </a:rPr>
              <a:t>() – </a:t>
            </a:r>
            <a:r>
              <a:rPr lang="ru-UA" sz="1400" kern="100" dirty="0" err="1">
                <a:effectLst/>
                <a:latin typeface="Calibri (Основной текст)"/>
                <a:ea typeface="Aptos" panose="020B0004020202020204" pitchFamily="34" charset="0"/>
              </a:rPr>
              <a:t>виводить</a:t>
            </a:r>
            <a:r>
              <a:rPr lang="ru-UA" sz="1400" kern="100" dirty="0">
                <a:effectLst/>
                <a:latin typeface="Calibri (Основной текст)"/>
                <a:ea typeface="Aptos" panose="020B0004020202020204" pitchFamily="34" charset="0"/>
              </a:rPr>
              <a:t> </a:t>
            </a:r>
            <a:r>
              <a:rPr lang="ru-UA" sz="1400" kern="100" dirty="0" err="1">
                <a:effectLst/>
                <a:latin typeface="Calibri (Основной текст)"/>
                <a:ea typeface="Aptos" panose="020B0004020202020204" pitchFamily="34" charset="0"/>
              </a:rPr>
              <a:t>історію</a:t>
            </a:r>
            <a:r>
              <a:rPr lang="ru-UA" sz="1400" kern="100" dirty="0">
                <a:effectLst/>
                <a:latin typeface="Calibri (Основной текст)"/>
                <a:ea typeface="Aptos" panose="020B0004020202020204" pitchFamily="34" charset="0"/>
              </a:rPr>
              <a:t> покупок магазину. 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UA" sz="1400" kern="100" dirty="0" err="1">
                <a:solidFill>
                  <a:srgbClr val="0070C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override</a:t>
            </a:r>
            <a:r>
              <a:rPr lang="ru-UA" sz="1400" kern="100" dirty="0">
                <a:effectLst/>
                <a:latin typeface="Calibri (Основной текст)"/>
                <a:ea typeface="Aptos" panose="020B0004020202020204" pitchFamily="34" charset="0"/>
              </a:rPr>
              <a:t> </a:t>
            </a:r>
            <a:r>
              <a:rPr lang="ru-UA" sz="1400" kern="100" dirty="0" err="1">
                <a:solidFill>
                  <a:srgbClr val="0070C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string</a:t>
            </a:r>
            <a:r>
              <a:rPr lang="ru-UA" sz="1400" kern="100" dirty="0">
                <a:effectLst/>
                <a:latin typeface="Calibri (Основной текст)"/>
                <a:ea typeface="Aptos" panose="020B0004020202020204" pitchFamily="34" charset="0"/>
              </a:rPr>
              <a:t> </a:t>
            </a:r>
            <a:r>
              <a:rPr lang="ru-UA" sz="1400" kern="100" dirty="0" err="1">
                <a:solidFill>
                  <a:srgbClr val="CC9900"/>
                </a:solidFill>
                <a:effectLst/>
                <a:latin typeface="Calibri (Основной текст)"/>
                <a:ea typeface="Aptos" panose="020B0004020202020204" pitchFamily="34" charset="0"/>
              </a:rPr>
              <a:t>ToString</a:t>
            </a:r>
            <a:r>
              <a:rPr lang="ru-UA" sz="1400" kern="100" dirty="0">
                <a:effectLst/>
                <a:latin typeface="Calibri (Основной текст)"/>
                <a:ea typeface="Aptos" panose="020B0004020202020204" pitchFamily="34" charset="0"/>
              </a:rPr>
              <a:t>() – </a:t>
            </a:r>
            <a:r>
              <a:rPr lang="ru-UA" sz="1400" kern="100" dirty="0" err="1">
                <a:effectLst/>
                <a:latin typeface="Calibri (Основной текст)"/>
                <a:ea typeface="Aptos" panose="020B0004020202020204" pitchFamily="34" charset="0"/>
              </a:rPr>
              <a:t>повертає</a:t>
            </a:r>
            <a:r>
              <a:rPr lang="ru-UA" sz="1400" kern="100" dirty="0">
                <a:effectLst/>
                <a:latin typeface="Calibri (Основной текст)"/>
                <a:ea typeface="Aptos" panose="020B0004020202020204" pitchFamily="34" charset="0"/>
              </a:rPr>
              <a:t> </a:t>
            </a:r>
            <a:r>
              <a:rPr lang="ru-UA" sz="1400" kern="100" dirty="0" err="1">
                <a:effectLst/>
                <a:latin typeface="Calibri (Основной текст)"/>
                <a:ea typeface="Aptos" panose="020B0004020202020204" pitchFamily="34" charset="0"/>
              </a:rPr>
              <a:t>текстову</a:t>
            </a:r>
            <a:r>
              <a:rPr lang="ru-UA" sz="1400" kern="100" dirty="0">
                <a:effectLst/>
                <a:latin typeface="Calibri (Основной текст)"/>
                <a:ea typeface="Aptos" panose="020B0004020202020204" pitchFamily="34" charset="0"/>
              </a:rPr>
              <a:t> </a:t>
            </a:r>
            <a:r>
              <a:rPr lang="ru-UA" sz="1400" kern="100" dirty="0" err="1">
                <a:effectLst/>
                <a:latin typeface="Calibri (Основной текст)"/>
                <a:ea typeface="Aptos" panose="020B0004020202020204" pitchFamily="34" charset="0"/>
              </a:rPr>
              <a:t>інформацію</a:t>
            </a:r>
            <a:r>
              <a:rPr lang="ru-UA" sz="1400" kern="100" dirty="0">
                <a:effectLst/>
                <a:latin typeface="Calibri (Основной текст)"/>
                <a:ea typeface="Aptos" panose="020B0004020202020204" pitchFamily="34" charset="0"/>
              </a:rPr>
              <a:t> про магазин.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UA" sz="1400" kern="100" dirty="0">
                <a:effectLst/>
                <a:latin typeface="Calibri (Основной текст)"/>
                <a:ea typeface="Aptos" panose="020B000402020202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236382652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465</TotalTime>
  <Words>697</Words>
  <Application>Microsoft Office PowerPoint</Application>
  <PresentationFormat>Широкоэкранный</PresentationFormat>
  <Paragraphs>113</Paragraphs>
  <Slides>8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7" baseType="lpstr">
      <vt:lpstr>Aptos</vt:lpstr>
      <vt:lpstr>Arial</vt:lpstr>
      <vt:lpstr>Calibri</vt:lpstr>
      <vt:lpstr>Calibri (Основной текст)</vt:lpstr>
      <vt:lpstr>Calibri Light</vt:lpstr>
      <vt:lpstr>Cascadia Mono</vt:lpstr>
      <vt:lpstr>Times New Roman</vt:lpstr>
      <vt:lpstr>Wingdings</vt:lpstr>
      <vt:lpstr>Ретро</vt:lpstr>
      <vt:lpstr>Курсова робота на тему СТВОРЕННЯ ІЄРАРХІЇ КЛАСІВ «ГІПЕРМАРКЕТ (б)».</vt:lpstr>
      <vt:lpstr>Постановка задачі</vt:lpstr>
      <vt:lpstr>Діаграма класів</vt:lpstr>
      <vt:lpstr>Категорії користувачів </vt:lpstr>
      <vt:lpstr>Категорії товарів</vt:lpstr>
      <vt:lpstr>Файл Program.cs</vt:lpstr>
      <vt:lpstr>Файл Menu.cs</vt:lpstr>
      <vt:lpstr>Файл Shop.cs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Offiks _</dc:creator>
  <cp:lastModifiedBy>Offiks _</cp:lastModifiedBy>
  <cp:revision>12</cp:revision>
  <dcterms:created xsi:type="dcterms:W3CDTF">2026-05-20T19:29:41Z</dcterms:created>
  <dcterms:modified xsi:type="dcterms:W3CDTF">2026-06-05T08:24:30Z</dcterms:modified>
</cp:coreProperties>
</file>